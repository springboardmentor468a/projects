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9" r:id="rId11"/>
    <p:sldId id="264" r:id="rId12"/>
    <p:sldId id="268" r:id="rId13"/>
    <p:sldId id="265" r:id="rId14"/>
    <p:sldId id="270" r:id="rId15"/>
    <p:sldId id="271" r:id="rId16"/>
  </p:sldIdLst>
  <p:sldSz cx="14630400" cy="8229600"/>
  <p:notesSz cx="8229600" cy="14630400"/>
  <p:embeddedFontLst>
    <p:embeddedFont>
      <p:font typeface="Montserrat" panose="00000500000000000000" pitchFamily="2" charset="0"/>
      <p:regular r:id="rId18"/>
    </p:embeddedFont>
    <p:embeddedFont>
      <p:font typeface="Source Sans 3" panose="020B0604020202020204" charset="0"/>
      <p:regular r:id="rId19"/>
    </p:embeddedFont>
    <p:embeddedFont>
      <p:font typeface="Source Serif 4 Semi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7" d="100"/>
          <a:sy n="67" d="100"/>
        </p:scale>
        <p:origin x="7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07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AI-VisionExtract: Isolation from Images using Image Segmentation</a:t>
            </a:r>
            <a:endParaRPr lang="en-US" sz="4400" b="1" dirty="0">
              <a:latin typeface="Montserrat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7724" y="5562185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400" b="1" i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cs typeface="Arial" panose="020B0604020202020204" pitchFamily="34" charset="0"/>
              </a:rPr>
              <a:t>BY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3400" b="1" i="1" dirty="0">
              <a:solidFill>
                <a:srgbClr val="FF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3400" b="1" i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cs typeface="Arial" panose="020B0604020202020204" pitchFamily="34" charset="0"/>
              </a:rPr>
              <a:t>B.NAGA SAI LAKSHMI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676" y="746238"/>
            <a:ext cx="2968469" cy="40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4400" b="1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Introduction</a:t>
            </a:r>
            <a:endParaRPr lang="en-US" sz="4400" b="1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5676" y="1240160"/>
            <a:ext cx="6057357" cy="55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2400" b="1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Transforming Image Processing with AI</a:t>
            </a:r>
            <a:endParaRPr lang="en-US" sz="2400" b="1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5677" y="1978462"/>
            <a:ext cx="6431042" cy="182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VisionExtract represents a cutting-edge solution for automated subject isolation using advanced image segmentation techniques. This project leverages deep learning to intelligently separate foreground subjects from backgrounds, creating precise cutouts with minimal manual intervention.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5677" y="4724906"/>
            <a:ext cx="6431042" cy="182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The technology bridges computer vision research with practical applications in photography, media production, and digital content creation, demonstrating the real-world impact of semantic segmentation models.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812" y="0"/>
            <a:ext cx="696758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04367"/>
            <a:ext cx="871001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Problem Statement &amp; Objectives</a:t>
            </a:r>
            <a:endParaRPr lang="en-US" sz="4400" dirty="0">
              <a:latin typeface="Montserrat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7724" y="2787134"/>
            <a:ext cx="4158734" cy="3837980"/>
          </a:xfrm>
          <a:prstGeom prst="roundRect">
            <a:avLst>
              <a:gd name="adj" fmla="val 262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4659" y="30340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The Challenge</a:t>
            </a:r>
            <a:endParaRPr lang="en-US" sz="2200" dirty="0">
              <a:latin typeface="Montserrat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4659" y="3529608"/>
            <a:ext cx="3664863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Manual subject isolation is time-consuming and requires expertise. Existing tools lack precision for complex boundaries like hair, fur, or transparent objects. Automation is essential for scalable media workflows.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35773" y="2787134"/>
            <a:ext cx="4158734" cy="3837980"/>
          </a:xfrm>
          <a:prstGeom prst="roundRect">
            <a:avLst>
              <a:gd name="adj" fmla="val 262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2709" y="30340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Our Goal</a:t>
            </a:r>
            <a:endParaRPr lang="en-US" sz="2200" dirty="0">
              <a:latin typeface="Montserrat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2709" y="3529608"/>
            <a:ext cx="3664863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Build a machine learning model that automatically extracts the main subject from any image, rendering the background completely black whilst preserving the subject's original appearance with pixel-perfect accuracy.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33823" y="2787134"/>
            <a:ext cx="4158853" cy="3837980"/>
          </a:xfrm>
          <a:prstGeom prst="roundRect">
            <a:avLst>
              <a:gd name="adj" fmla="val 262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0759" y="30340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Core Objectives</a:t>
            </a:r>
            <a:endParaRPr lang="en-US" sz="2200" dirty="0">
              <a:latin typeface="Montserrat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80759" y="3551337"/>
            <a:ext cx="366498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Implement semantic segmentation using deep learning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80759" y="4762381"/>
            <a:ext cx="366498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Achieve high-precision subject-background separation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80759" y="5693747"/>
            <a:ext cx="366498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Deploy a practical, user-friendly solution</a:t>
            </a:r>
            <a:endParaRPr lang="en-US" sz="1600" dirty="0">
              <a:latin typeface="Montserrat" panose="000005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1F10EB-E89E-C722-B325-A95A7A7F1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555" y="7721455"/>
            <a:ext cx="1933845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133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639" y="3188137"/>
            <a:ext cx="5885021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Use Cases &amp; Applications</a:t>
            </a:r>
            <a:endParaRPr lang="en-US" sz="4400" b="1" dirty="0">
              <a:latin typeface="Montserrat" panose="00000500000000000000" pitchFamily="2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39" y="4116586"/>
            <a:ext cx="522565" cy="5225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15428" y="4240649"/>
            <a:ext cx="2996208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Photography Automation</a:t>
            </a:r>
            <a:endParaRPr lang="en-US" sz="1900" b="1" dirty="0">
              <a:latin typeface="Montserrat" panose="000005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515428" y="4673441"/>
            <a:ext cx="566916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Streamline post-production workflows by automatically removing backgrounds from product photos, portraits, and commercial photography without manual masking.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812" y="4116586"/>
            <a:ext cx="522565" cy="5225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0" y="4240649"/>
            <a:ext cx="2501265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Virtual Conferencing</a:t>
            </a:r>
            <a:endParaRPr lang="en-US" sz="1900" b="1" dirty="0">
              <a:latin typeface="Montserrat" panose="00000500000000000000" pitchFamily="2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229600" y="4849157"/>
            <a:ext cx="566916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Enable real-time background replacement for video calls and virtual meetings, enhancing privacy and professionalism in remote communication.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39" y="6094809"/>
            <a:ext cx="522565" cy="5225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15428" y="6218873"/>
            <a:ext cx="245959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AR &amp; Digital Art</a:t>
            </a:r>
            <a:endParaRPr lang="en-US" sz="1900" b="1" dirty="0">
              <a:latin typeface="Montserrat" panose="00000500000000000000" pitchFamily="2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515428" y="6651665"/>
            <a:ext cx="566916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Support augmented reality applications and digital content creation by providing clean subject extraction for compositing and special effects.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812" y="6094809"/>
            <a:ext cx="522565" cy="52256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0" y="6218873"/>
            <a:ext cx="248626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E-commerce &amp; Retail</a:t>
            </a:r>
            <a:endParaRPr lang="en-US" sz="1900" b="1" dirty="0">
              <a:latin typeface="Montserrat" panose="00000500000000000000" pitchFamily="2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8229600" y="6651665"/>
            <a:ext cx="566916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Automate product image preparation for online catalogues, ensuring consistent white or transparent backgrounds across thousands of product listings.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28A1E3-565D-788A-5BD4-16D9B43B6B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96555" y="7723241"/>
            <a:ext cx="1933845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311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721" y="2722245"/>
            <a:ext cx="4199811" cy="524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4400" b="1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Project Architecture</a:t>
            </a:r>
            <a:endParaRPr lang="en-US" sz="4400" b="1" dirty="0">
              <a:latin typeface="Montserrat" panose="00000500000000000000" pitchFamily="2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21" y="3514725"/>
            <a:ext cx="6690479" cy="7138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3196" y="4407098"/>
            <a:ext cx="209990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Data Ingestion</a:t>
            </a:r>
            <a:endParaRPr lang="en-US" sz="1650" dirty="0">
              <a:latin typeface="Montserrat" panose="000005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03196" y="4776668"/>
            <a:ext cx="6333530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COCO 2017 dataset with images and segmentation masks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514725"/>
            <a:ext cx="6690479" cy="7138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93675" y="4407098"/>
            <a:ext cx="233386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Preprocessing Pipeline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493675" y="4776668"/>
            <a:ext cx="6333530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Normalisation, augmentation, mask alignment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21" y="5240655"/>
            <a:ext cx="6690479" cy="7138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196" y="6133028"/>
            <a:ext cx="209990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Segmentation Model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803196" y="6502598"/>
            <a:ext cx="6333530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Deep learning architecture for pixel-wise prediction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5240655"/>
            <a:ext cx="6690479" cy="7138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3675" y="6133028"/>
            <a:ext cx="209990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Subject Isolation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493675" y="6502598"/>
            <a:ext cx="6333530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Binary mask application and output generation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24721" y="7167324"/>
            <a:ext cx="13380958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The architecture follows a modular design, enabling flexibility in model selection and deployment whilst maintaining robust performance across diverse image types and subject categories.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1E5815-A684-1091-33F4-02F291278F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96555" y="7743757"/>
            <a:ext cx="1933845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078" y="642818"/>
            <a:ext cx="8394859" cy="687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Dataset &amp; Technical Foundation</a:t>
            </a:r>
            <a:endParaRPr lang="en-US" sz="4400" b="1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8078" y="1914406"/>
            <a:ext cx="3299936" cy="412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COCO 2017 Dataset</a:t>
            </a:r>
            <a:endParaRPr lang="en-US" sz="255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8078" y="2560677"/>
            <a:ext cx="6890147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The Microsoft Common Objects in Context (COCO) dataset provides comprehensive annotations for training robust segmentation models: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8078" y="3699746"/>
            <a:ext cx="6890147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Over 200,000 labelled images</a:t>
            </a:r>
            <a:r>
              <a:rPr lang="en-US" sz="18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with diverse scenes and subjects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8078" y="4151213"/>
            <a:ext cx="6890147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80 object categories</a:t>
            </a:r>
            <a:r>
              <a:rPr lang="en-US" sz="18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including people, animals, vehicles, and household items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8078" y="5038402"/>
            <a:ext cx="6890147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Pixel-level segmentation masks</a:t>
            </a:r>
            <a:r>
              <a:rPr lang="en-US" sz="18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for precise boundary definition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8078" y="5567481"/>
            <a:ext cx="6890147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Real-world complexity</a:t>
            </a:r>
            <a:r>
              <a:rPr lang="en-US" sz="18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with occlusions, varying scales, and challenging backgrounds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8078" y="6462771"/>
            <a:ext cx="6890147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This rich dataset ensures the model generalises well to unseen images across different domains and use cases.</a:t>
            </a:r>
            <a:endParaRPr lang="en-US" sz="1800" dirty="0">
              <a:latin typeface="Montserrat" panose="00000500000000000000" pitchFamily="2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155" y="1943576"/>
            <a:ext cx="5533668" cy="5533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8263BF-84FA-D25F-156A-934786BAB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555" y="7743757"/>
            <a:ext cx="1933845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698540"/>
            <a:ext cx="6097072" cy="54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400" b="1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Existing vs. Proposed System</a:t>
            </a:r>
            <a:endParaRPr lang="en-US" sz="4400" b="1" dirty="0"/>
          </a:p>
        </p:txBody>
      </p:sp>
      <p:sp>
        <p:nvSpPr>
          <p:cNvPr id="4" name="Shape 2"/>
          <p:cNvSpPr/>
          <p:nvPr/>
        </p:nvSpPr>
        <p:spPr>
          <a:xfrm>
            <a:off x="671989" y="1524288"/>
            <a:ext cx="6666071" cy="4897467"/>
          </a:xfrm>
          <a:prstGeom prst="roundRect">
            <a:avLst>
              <a:gd name="adj" fmla="val 2809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72144" y="1943097"/>
            <a:ext cx="2181939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Existing Systems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9269" y="2742570"/>
            <a:ext cx="628769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Manual Editing Tools:</a:t>
            </a: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Require skilled operators and significant time investment for each image. Inconsistent results depend heavily on user expertise.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9269" y="3960852"/>
            <a:ext cx="628769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Basic Threshold Methods:</a:t>
            </a: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Struggle with complex backgrounds and fine details like hair or semi-transparent objects. Limited to simple, high-contrast scenarios.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1178" y="5334891"/>
            <a:ext cx="628769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Commercial APIs:</a:t>
            </a: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Often expensive with usage limits, lack customisation options, and raise privacy concerns for sensitive images.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60098" y="1524288"/>
            <a:ext cx="6666071" cy="4897466"/>
          </a:xfrm>
          <a:prstGeom prst="rect">
            <a:avLst/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22840" y="1869042"/>
            <a:ext cx="3269694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Proposed VisionExtract System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69774" y="2735997"/>
            <a:ext cx="628769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Deep Learning Automation:</a:t>
            </a: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Leverages state-of-the-art semantic segmentation for consistent, high-quality results without manual intervention.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69775" y="4061225"/>
            <a:ext cx="628769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Pixel-Perfect Precision:</a:t>
            </a: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Handles complex boundaries, fine details, and challenging scenarios through learned feature representations.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69776" y="5262576"/>
            <a:ext cx="628769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Customisable &amp; Private:</a:t>
            </a: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Deployable on-premises for data security, fully customisable for specific use cases, with no per-image costs after training.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BF1298-2F52-9A5C-5B43-BC742A389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508" y="7743757"/>
            <a:ext cx="1933845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2A1903-4D26-80F4-8217-16D85F2C54FB}"/>
              </a:ext>
            </a:extLst>
          </p:cNvPr>
          <p:cNvSpPr txBox="1"/>
          <p:nvPr/>
        </p:nvSpPr>
        <p:spPr>
          <a:xfrm>
            <a:off x="91725" y="105368"/>
            <a:ext cx="250902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D73A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Results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8D6EF-0DEE-282C-CDC2-B528AE13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6555" y="7743757"/>
            <a:ext cx="1933845" cy="485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123F64-79CC-D6EE-101D-CEB11F195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750" y="884878"/>
            <a:ext cx="5921299" cy="34578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C2275F-6C4E-993E-313A-25FF874D3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066" y="4528850"/>
            <a:ext cx="11202267" cy="3457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460F8B-932A-B116-D39B-429DACA96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5" y="957622"/>
            <a:ext cx="7882964" cy="335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8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7C43B-6032-B258-F1B3-D81A8AD91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0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irly Background Images – Browse 264,148 Stock Photos, Vectors, and Video |  Adobe Stock">
            <a:extLst>
              <a:ext uri="{FF2B5EF4-FFF2-40B4-BE49-F238E27FC236}">
                <a16:creationId xmlns:a16="http://schemas.microsoft.com/office/drawing/2014/main" id="{C44D5401-1686-6A67-849C-C04C0B0FB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762001"/>
            <a:ext cx="14630401" cy="906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5005D1-4C01-0F08-4355-D954765E4ACB}"/>
              </a:ext>
            </a:extLst>
          </p:cNvPr>
          <p:cNvSpPr txBox="1"/>
          <p:nvPr/>
        </p:nvSpPr>
        <p:spPr>
          <a:xfrm>
            <a:off x="446047" y="-10235"/>
            <a:ext cx="9935737" cy="729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400" b="1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Methodology: Building the Pipeline</a:t>
            </a:r>
            <a:endParaRPr lang="en-US" sz="3400" b="1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079D0-0F41-E06F-2BF4-B1F0575C017A}"/>
              </a:ext>
            </a:extLst>
          </p:cNvPr>
          <p:cNvSpPr txBox="1"/>
          <p:nvPr/>
        </p:nvSpPr>
        <p:spPr>
          <a:xfrm>
            <a:off x="362414" y="995331"/>
            <a:ext cx="579864" cy="43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800" b="1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86F83-600C-8BCD-6B91-0C75EB5EF841}"/>
              </a:ext>
            </a:extLst>
          </p:cNvPr>
          <p:cNvSpPr txBox="1"/>
          <p:nvPr/>
        </p:nvSpPr>
        <p:spPr>
          <a:xfrm>
            <a:off x="362414" y="1619473"/>
            <a:ext cx="7404410" cy="41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u="sng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Data Preprocessing &amp; Feature Engineering</a:t>
            </a:r>
            <a:endParaRPr lang="en-US" sz="1800" b="1" u="sng" dirty="0"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99961-5A35-317A-96AC-BF29ADFAA941}"/>
              </a:ext>
            </a:extLst>
          </p:cNvPr>
          <p:cNvSpPr txBox="1"/>
          <p:nvPr/>
        </p:nvSpPr>
        <p:spPr>
          <a:xfrm>
            <a:off x="362413" y="2224624"/>
            <a:ext cx="6952786" cy="197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Ensure resolution consistency between images and masks, apply augmentation techniques (cropping, flipping, </a:t>
            </a:r>
            <a:r>
              <a:rPr lang="en-US" sz="1800" dirty="0" err="1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colour</a:t>
            </a: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perturbation), </a:t>
            </a:r>
            <a:r>
              <a:rPr lang="en-US" sz="1800" dirty="0" err="1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normalise</a:t>
            </a: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pixel values, and convert multi-class masks to binary subject-background format for training.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B932DE-EF4D-9EEE-FD63-45FED40F32E1}"/>
              </a:ext>
            </a:extLst>
          </p:cNvPr>
          <p:cNvSpPr txBox="1"/>
          <p:nvPr/>
        </p:nvSpPr>
        <p:spPr>
          <a:xfrm>
            <a:off x="7850458" y="2220620"/>
            <a:ext cx="6339469" cy="200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Implement deep learning architecture (e.g., U-Net, </a:t>
            </a:r>
            <a:r>
              <a:rPr lang="en-US" sz="1800" dirty="0" err="1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DeepLab</a:t>
            </a: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) to predict pixel-wise binary masks. The model learns to distinguish subject pixels from background through supervised training on annotated data.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C87C45-1B29-A786-DC1D-719A4754D863}"/>
              </a:ext>
            </a:extLst>
          </p:cNvPr>
          <p:cNvSpPr txBox="1"/>
          <p:nvPr/>
        </p:nvSpPr>
        <p:spPr>
          <a:xfrm>
            <a:off x="7989848" y="994002"/>
            <a:ext cx="691376" cy="43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800" b="1" dirty="0"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89028-3271-30D4-A3BB-315CEC6C401F}"/>
              </a:ext>
            </a:extLst>
          </p:cNvPr>
          <p:cNvSpPr txBox="1"/>
          <p:nvPr/>
        </p:nvSpPr>
        <p:spPr>
          <a:xfrm>
            <a:off x="7928517" y="1623716"/>
            <a:ext cx="7766824" cy="41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u="sng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Segmentation Model Development</a:t>
            </a:r>
            <a:endParaRPr lang="en-US" sz="1800" b="1" u="sng" dirty="0"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779267-A243-E61B-75D4-EDC3B983B9A5}"/>
              </a:ext>
            </a:extLst>
          </p:cNvPr>
          <p:cNvSpPr txBox="1"/>
          <p:nvPr/>
        </p:nvSpPr>
        <p:spPr>
          <a:xfrm>
            <a:off x="446048" y="4547253"/>
            <a:ext cx="669074" cy="43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800" b="1" dirty="0">
              <a:latin typeface="Montserra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794CF6-7934-5A1E-FE7E-4679AF71D7DE}"/>
              </a:ext>
            </a:extLst>
          </p:cNvPr>
          <p:cNvSpPr txBox="1"/>
          <p:nvPr/>
        </p:nvSpPr>
        <p:spPr>
          <a:xfrm>
            <a:off x="446047" y="5211358"/>
            <a:ext cx="5341436" cy="41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u="sng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Training &amp; Optimisation</a:t>
            </a:r>
            <a:endParaRPr lang="en-US" sz="1800" b="1" u="sng" dirty="0"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AF9270-04CA-123F-4771-C3979E930512}"/>
              </a:ext>
            </a:extLst>
          </p:cNvPr>
          <p:cNvSpPr txBox="1"/>
          <p:nvPr/>
        </p:nvSpPr>
        <p:spPr>
          <a:xfrm>
            <a:off x="434895" y="5784285"/>
            <a:ext cx="6818971" cy="197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Train the model using appropriate loss functions (binary cross-entropy, Dice loss) and </a:t>
            </a:r>
            <a:r>
              <a:rPr lang="en-US" sz="1800" dirty="0" err="1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optimisation</a:t>
            </a: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strategies. Monitor validation performance and adjust hyperparameters to prevent overfitting whilst </a:t>
            </a:r>
            <a:r>
              <a:rPr lang="en-US" sz="1800" dirty="0" err="1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maximising</a:t>
            </a: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accuracy.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C37420-AEDE-8ED0-6796-A9BA21AF2FD4}"/>
              </a:ext>
            </a:extLst>
          </p:cNvPr>
          <p:cNvSpPr txBox="1"/>
          <p:nvPr/>
        </p:nvSpPr>
        <p:spPr>
          <a:xfrm>
            <a:off x="7867184" y="4574083"/>
            <a:ext cx="669074" cy="43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800" b="1" dirty="0">
              <a:latin typeface="Montserrat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B70068-B216-9FBF-F1A0-A208F9A94F1E}"/>
              </a:ext>
            </a:extLst>
          </p:cNvPr>
          <p:cNvSpPr txBox="1"/>
          <p:nvPr/>
        </p:nvSpPr>
        <p:spPr>
          <a:xfrm>
            <a:off x="7928517" y="5211358"/>
            <a:ext cx="3830444" cy="41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u="sng" dirty="0">
                <a:solidFill>
                  <a:srgbClr val="272525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Evaluation &amp; Fine-tuning</a:t>
            </a:r>
            <a:endParaRPr lang="en-US" sz="1800" b="1" u="sng" dirty="0">
              <a:latin typeface="Montserrat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4EDBD7-A0C9-4282-07C1-1A1DBF5B667E}"/>
              </a:ext>
            </a:extLst>
          </p:cNvPr>
          <p:cNvSpPr txBox="1"/>
          <p:nvPr/>
        </p:nvSpPr>
        <p:spPr>
          <a:xfrm>
            <a:off x="7850458" y="5781087"/>
            <a:ext cx="6478860" cy="159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Assess performance using </a:t>
            </a:r>
            <a:r>
              <a:rPr lang="en-US" sz="1800" dirty="0" err="1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IoU</a:t>
            </a:r>
            <a:r>
              <a:rPr lang="en-US" sz="18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, Dice coefficient, precision, recall, and pixel accuracy metrics. Review qualitative outputs to identify edge cases and refine the model through iterative experimentation.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24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839" y="483156"/>
            <a:ext cx="534138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Features &amp; Advantages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14839" y="1461016"/>
            <a:ext cx="6486049" cy="1393150"/>
          </a:xfrm>
          <a:prstGeom prst="roundRect">
            <a:avLst>
              <a:gd name="adj" fmla="val 787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79" y="1461016"/>
            <a:ext cx="91440" cy="1393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1896" y="1659493"/>
            <a:ext cx="2086451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Automated Precision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81896" y="2093476"/>
            <a:ext cx="6020514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Achieves professional-quality subject isolation without manual editing, dramatically reducing production time and costs.</a:t>
            </a:r>
            <a:endParaRPr lang="en-US" sz="1350" dirty="0">
              <a:latin typeface="Montserrat" panose="000005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4839" y="3029783"/>
            <a:ext cx="6486049" cy="1393150"/>
          </a:xfrm>
          <a:prstGeom prst="roundRect">
            <a:avLst>
              <a:gd name="adj" fmla="val 787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79" y="3029783"/>
            <a:ext cx="91440" cy="13931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1896" y="3228261"/>
            <a:ext cx="2217182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Robust Generalisation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81896" y="3662243"/>
            <a:ext cx="6020514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Trained on diverse imagery, the model handles various subjects, poses, and backgrounds effectively.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4839" y="4598551"/>
            <a:ext cx="6486049" cy="1393150"/>
          </a:xfrm>
          <a:prstGeom prst="roundRect">
            <a:avLst>
              <a:gd name="adj" fmla="val 787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79" y="4598551"/>
            <a:ext cx="91440" cy="1393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1896" y="4797028"/>
            <a:ext cx="2066925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Scalable Processing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81896" y="5231011"/>
            <a:ext cx="6020514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 hundreds or thousands of images consistently, enabling batch operations for commercial applications.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4839" y="6167318"/>
            <a:ext cx="6486049" cy="1393150"/>
          </a:xfrm>
          <a:prstGeom prst="roundRect">
            <a:avLst>
              <a:gd name="adj" fmla="val 787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79" y="6167318"/>
            <a:ext cx="91440" cy="13931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1896" y="6365796"/>
            <a:ext cx="2408873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Fine Detail Preservation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81896" y="6799778"/>
            <a:ext cx="6020514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Captures intricate boundaries including hair, fur, and semi-transparent elements that challenge traditional methods.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133" y="0"/>
            <a:ext cx="709326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4A294-AED1-B58F-F22E-20B19C5BD274}"/>
              </a:ext>
            </a:extLst>
          </p:cNvPr>
          <p:cNvSpPr txBox="1"/>
          <p:nvPr/>
        </p:nvSpPr>
        <p:spPr>
          <a:xfrm>
            <a:off x="267629" y="200355"/>
            <a:ext cx="7315200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D73A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Future Scope</a:t>
            </a: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1028" name="Picture 4" descr="Massive Scope in the Near Future for AI &amp; ML Technology in the Middle-East  | Cybermedia research (CMR)">
            <a:extLst>
              <a:ext uri="{FF2B5EF4-FFF2-40B4-BE49-F238E27FC236}">
                <a16:creationId xmlns:a16="http://schemas.microsoft.com/office/drawing/2014/main" id="{792420C1-B769-5C76-ADAA-5BE576B4E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0"/>
            <a:ext cx="66675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A8238F-F37C-DA98-F0FD-C10B2D43E5C7}"/>
              </a:ext>
            </a:extLst>
          </p:cNvPr>
          <p:cNvSpPr txBox="1"/>
          <p:nvPr/>
        </p:nvSpPr>
        <p:spPr>
          <a:xfrm>
            <a:off x="323385" y="1270886"/>
            <a:ext cx="7315200" cy="1569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Inter Bold" pitchFamily="34" charset="-122"/>
                <a:cs typeface="Inter Bold" pitchFamily="34" charset="-120"/>
              </a:rPr>
              <a:t>                   Augmented Reality (AR)</a:t>
            </a:r>
            <a:br>
              <a:rPr lang="en-US" sz="1600" dirty="0"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Seamlessly place isolated subjects into real-world views without disruptive backgrounds.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.</a:t>
            </a:r>
            <a:endParaRPr lang="en-IN" dirty="0">
              <a:latin typeface="Montserrat" panose="00000500000000000000" pitchFamily="2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20EBC82-11C3-761C-A32D-437ED5B3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60" y="1181390"/>
            <a:ext cx="566976" cy="566976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4FEF854B-971E-5211-35A3-EA7FE8B38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85" y="2839905"/>
            <a:ext cx="566976" cy="5669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862543-E857-10F0-3DED-78A62165B031}"/>
              </a:ext>
            </a:extLst>
          </p:cNvPr>
          <p:cNvSpPr txBox="1"/>
          <p:nvPr/>
        </p:nvSpPr>
        <p:spPr>
          <a:xfrm>
            <a:off x="267629" y="2787148"/>
            <a:ext cx="7315200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Inter Bold" pitchFamily="34" charset="-122"/>
                <a:cs typeface="Inter Bold" pitchFamily="34" charset="-120"/>
              </a:rPr>
              <a:t>                    Virtual Conferencing</a:t>
            </a:r>
          </a:p>
          <a:p>
            <a:pPr>
              <a:lnSpc>
                <a:spcPts val="2850"/>
              </a:lnSpc>
            </a:pPr>
            <a:endParaRPr lang="en-US" sz="1600" dirty="0">
              <a:solidFill>
                <a:srgbClr val="272525"/>
              </a:solidFill>
              <a:latin typeface="Montserrat" panose="00000500000000000000" pitchFamily="2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Provide high-quality, precise background replacement during video calls (e.g., virtual green screens).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600" dirty="0">
              <a:solidFill>
                <a:srgbClr val="272525"/>
              </a:solidFill>
              <a:latin typeface="Montserrat" panose="00000500000000000000" pitchFamily="2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600" dirty="0">
              <a:latin typeface="Montserrat" panose="00000500000000000000" pitchFamily="2" charset="0"/>
            </a:endParaRP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AC31226B-0537-DF1A-DF32-CE20C2D52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04" y="4618815"/>
            <a:ext cx="566976" cy="5669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783831-40DA-5C75-E3D2-ED6DA820CB78}"/>
              </a:ext>
            </a:extLst>
          </p:cNvPr>
          <p:cNvSpPr txBox="1"/>
          <p:nvPr/>
        </p:nvSpPr>
        <p:spPr>
          <a:xfrm>
            <a:off x="267629" y="4733668"/>
            <a:ext cx="7315200" cy="1165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sz="1600" b="1" dirty="0">
                <a:solidFill>
                  <a:srgbClr val="272525"/>
                </a:solidFill>
                <a:latin typeface="Montserrat" panose="00000500000000000000" pitchFamily="2" charset="0"/>
                <a:ea typeface="Inter Bold" pitchFamily="34" charset="-122"/>
                <a:cs typeface="Inter Bold" pitchFamily="34" charset="-120"/>
              </a:rPr>
              <a:t>                     Photography Automation</a:t>
            </a:r>
            <a:endParaRPr lang="en-US" sz="1600" dirty="0">
              <a:solidFill>
                <a:srgbClr val="272525"/>
              </a:solidFill>
              <a:latin typeface="Montserrat" panose="00000500000000000000" pitchFamily="2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Streamline workflow for product photography and portrait post-processing, saving significant manual effort.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B852EC01-7DAB-FA66-00CF-9D1F92EBE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04" y="6111841"/>
            <a:ext cx="566976" cy="5669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182E37-1B1E-9758-582B-C86178B897D7}"/>
              </a:ext>
            </a:extLst>
          </p:cNvPr>
          <p:cNvSpPr txBox="1"/>
          <p:nvPr/>
        </p:nvSpPr>
        <p:spPr>
          <a:xfrm>
            <a:off x="323385" y="6824126"/>
            <a:ext cx="7315200" cy="80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Quickly separate elements for collage, digital painting, and graphic design projects.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8F45D-6E8F-8A78-563E-DFD55618049A}"/>
              </a:ext>
            </a:extLst>
          </p:cNvPr>
          <p:cNvSpPr txBox="1"/>
          <p:nvPr/>
        </p:nvSpPr>
        <p:spPr>
          <a:xfrm>
            <a:off x="1330895" y="6176597"/>
            <a:ext cx="7315200" cy="42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Montserrat" panose="00000500000000000000" pitchFamily="2" charset="0"/>
                <a:ea typeface="Inter Bold" pitchFamily="34" charset="-122"/>
                <a:cs typeface="Inter Bold" pitchFamily="34" charset="-120"/>
              </a:rPr>
              <a:t>Digital Art &amp; Design</a:t>
            </a:r>
            <a:endParaRPr lang="en-US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922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7245" y="537385"/>
            <a:ext cx="4152305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600" dirty="0">
                <a:solidFill>
                  <a:srgbClr val="D73AD7"/>
                </a:solidFill>
                <a:latin typeface="Montserrat" panose="00000500000000000000" pitchFamily="2" charset="0"/>
                <a:ea typeface="Source Serif 4 Semi Bold" pitchFamily="34" charset="-122"/>
                <a:cs typeface="Source Serif 4 Semi Bold" pitchFamily="34" charset="-120"/>
              </a:rPr>
              <a:t>Key Challenges &amp; Solutions</a:t>
            </a:r>
            <a:endParaRPr lang="en-US" sz="26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6765" y="1478843"/>
            <a:ext cx="14122482" cy="267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Complex backgrounds:</a:t>
            </a:r>
            <a:r>
              <a:rPr lang="en-US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Addressed through extensive data 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     augmentation and robust architecture selection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7245" y="2558090"/>
            <a:ext cx="1305687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Fine detail preservation:</a:t>
            </a:r>
            <a:r>
              <a:rPr lang="en-US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Implemented multi-scale processing 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     and attention mechanisms for boundary refinement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7245" y="3705304"/>
            <a:ext cx="9037459" cy="55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Computational efficiency:</a:t>
            </a:r>
            <a:r>
              <a:rPr lang="en-US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Optimised model architecture for 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72525"/>
                </a:solidFill>
                <a:latin typeface="Montserrat" panose="00000500000000000000" pitchFamily="2" charset="0"/>
                <a:ea typeface="Source Sans 3" pitchFamily="34" charset="-122"/>
                <a:cs typeface="Source Sans 3" pitchFamily="34" charset="-120"/>
              </a:rPr>
              <a:t>      real-time inference whilst maintaining accuracy</a:t>
            </a:r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2D11E8-AA53-73DA-9633-D1B7F11B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555" y="7743757"/>
            <a:ext cx="1933845" cy="485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CB68F1-EA68-B299-9CE9-699DDBEBBD09}"/>
              </a:ext>
            </a:extLst>
          </p:cNvPr>
          <p:cNvSpPr txBox="1"/>
          <p:nvPr/>
        </p:nvSpPr>
        <p:spPr>
          <a:xfrm>
            <a:off x="817245" y="5021874"/>
            <a:ext cx="8915284" cy="170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Edge and Boundary Accuracy : </a:t>
            </a:r>
            <a:r>
              <a:rPr lang="en-US" dirty="0">
                <a:latin typeface="Montserrat" panose="00000500000000000000" pitchFamily="2" charset="0"/>
              </a:rPr>
              <a:t>Achieving sharp subject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     boundaries was challenging, as the model often produced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     soft or incomplete edges, especially in complex 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     or low-contrast regions.</a:t>
            </a:r>
            <a:endParaRPr lang="en-IN" dirty="0">
              <a:latin typeface="Montserrat" panose="00000500000000000000" pitchFamily="2" charset="0"/>
            </a:endParaRPr>
          </a:p>
        </p:txBody>
      </p:sp>
      <p:pic>
        <p:nvPicPr>
          <p:cNvPr id="3074" name="Picture 2" descr="Challenges Faced by Startups in India - New Business">
            <a:extLst>
              <a:ext uri="{FF2B5EF4-FFF2-40B4-BE49-F238E27FC236}">
                <a16:creationId xmlns:a16="http://schemas.microsoft.com/office/drawing/2014/main" id="{2F64E362-96B0-2D7C-F950-2CD5C4961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339" y="0"/>
            <a:ext cx="6276062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500+ Main Conclusion Stock Photos, Pictures &amp; Royalty-Free Images - iStock">
            <a:extLst>
              <a:ext uri="{FF2B5EF4-FFF2-40B4-BE49-F238E27FC236}">
                <a16:creationId xmlns:a16="http://schemas.microsoft.com/office/drawing/2014/main" id="{D52C24B4-8FE1-643C-F8C1-14A0F4670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2E4CE0-5AA8-B94F-82DA-0C5AEA2D5913}"/>
              </a:ext>
            </a:extLst>
          </p:cNvPr>
          <p:cNvSpPr txBox="1"/>
          <p:nvPr/>
        </p:nvSpPr>
        <p:spPr>
          <a:xfrm>
            <a:off x="765810" y="3305218"/>
            <a:ext cx="13407390" cy="336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The project </a:t>
            </a:r>
            <a:r>
              <a:rPr lang="en-US" b="1" dirty="0">
                <a:latin typeface="Montserrat" panose="00000500000000000000" pitchFamily="2" charset="0"/>
              </a:rPr>
              <a:t>“AI VisionExtract: Isolation from Images using Image Segmentation”</a:t>
            </a:r>
            <a:r>
              <a:rPr lang="en-US" dirty="0">
                <a:latin typeface="Montserrat" panose="00000500000000000000" pitchFamily="2" charset="0"/>
              </a:rPr>
              <a:t> successfully achieved automated subject isolation using deep learning–based semantic segmentation techniques. The model effectively identifies and extracts the main subject from an image, removing the background with high visual accuracy.</a:t>
            </a:r>
          </a:p>
          <a:p>
            <a:pPr>
              <a:lnSpc>
                <a:spcPct val="150000"/>
              </a:lnSpc>
            </a:pPr>
            <a:endParaRPr lang="en-US" dirty="0"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This work demonstrates the practical potential of computer vision in </a:t>
            </a:r>
            <a:r>
              <a:rPr lang="en-US" b="1" dirty="0">
                <a:latin typeface="Montserrat" panose="00000500000000000000" pitchFamily="2" charset="0"/>
              </a:rPr>
              <a:t>digital media, augmented reality, and virtual conferencing</a:t>
            </a:r>
            <a:r>
              <a:rPr lang="en-US" dirty="0">
                <a:latin typeface="Montserrat" panose="00000500000000000000" pitchFamily="2" charset="0"/>
              </a:rPr>
              <a:t> applications. The project also establishes a strong foundation for future advancements such as </a:t>
            </a:r>
            <a:r>
              <a:rPr lang="en-US" b="1" dirty="0">
                <a:latin typeface="Montserrat" panose="00000500000000000000" pitchFamily="2" charset="0"/>
              </a:rPr>
              <a:t>real-time segmentation, multi-class object isolation, and model deployment on edge devices</a:t>
            </a:r>
            <a:r>
              <a:rPr lang="en-US" dirty="0">
                <a:latin typeface="Montserrat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F2D7F4-4F01-1D2F-7472-75578BEB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0170" y="7723796"/>
            <a:ext cx="1840230" cy="5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25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ank you pink Images - Free Download on Freepik">
            <a:extLst>
              <a:ext uri="{FF2B5EF4-FFF2-40B4-BE49-F238E27FC236}">
                <a16:creationId xmlns:a16="http://schemas.microsoft.com/office/drawing/2014/main" id="{6B5688C4-7DFB-8316-273A-A1A05FE9C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68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1040</Words>
  <Application>Microsoft Office PowerPoint</Application>
  <PresentationFormat>Custom</PresentationFormat>
  <Paragraphs>109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Source Serif 4 Semi Bold</vt:lpstr>
      <vt:lpstr>Source Sans 3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Naga sai</dc:creator>
  <cp:lastModifiedBy>Naga sai</cp:lastModifiedBy>
  <cp:revision>25</cp:revision>
  <dcterms:created xsi:type="dcterms:W3CDTF">2025-10-04T12:30:27Z</dcterms:created>
  <dcterms:modified xsi:type="dcterms:W3CDTF">2025-10-04T14:18:09Z</dcterms:modified>
</cp:coreProperties>
</file>