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3" r:id="rId9"/>
    <p:sldId id="262" r:id="rId10"/>
    <p:sldId id="264" r:id="rId11"/>
    <p:sldId id="265" r:id="rId12"/>
    <p:sldId id="267" r:id="rId13"/>
    <p:sldId id="268" r:id="rId14"/>
  </p:sldIdLst>
  <p:sldSz cx="14630400" cy="8229600"/>
  <p:notesSz cx="8229600" cy="14630400"/>
  <p:embeddedFontLst>
    <p:embeddedFont>
      <p:font typeface="Barlow" panose="00000500000000000000" pitchFamily="2" charset="0"/>
      <p:regular r:id="rId16"/>
      <p:bold r:id="rId17"/>
      <p:italic r:id="rId18"/>
      <p:boldItalic r:id="rId19"/>
    </p:embeddedFont>
    <p:embeddedFont>
      <p:font typeface="Californian FB" panose="0207040306080B030204" pitchFamily="18" charset="0"/>
      <p:regular r:id="rId20"/>
      <p:bold r:id="rId21"/>
      <p: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371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C559-8DED-8D33-C3E7-18890EF0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D770C-62AB-1E0C-BB57-F8D6AE0E5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07840-AA33-9D70-5521-BBA3B4BFD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90310-FF69-A3FC-16C8-B567CCB42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0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CA90-8DF7-9FF7-C75D-5A5CCFBD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A3EF3-373A-0760-134D-43DB8552A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B52B5-8663-2BC8-C0DC-7EEBA1B17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1C501-1EDF-8242-D4A5-1CE58A83F8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48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7300-599B-CB91-3289-C7FA1009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BAE51-45F1-E005-EA18-D9700B264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1B0D0-F31C-6BA0-35A3-EB91D635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83C84-421E-7068-27EE-153989F50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0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extract.streamlit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53662" y="2347155"/>
            <a:ext cx="11723076" cy="2097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50"/>
              </a:lnSpc>
            </a:pPr>
            <a:r>
              <a:rPr lang="en-US" sz="4400" b="1" dirty="0">
                <a:solidFill>
                  <a:srgbClr val="F0FCFF"/>
                </a:solidFill>
                <a:ea typeface="Spline Sans Bold" pitchFamily="34" charset="-122"/>
              </a:rPr>
              <a:t>Vision Extract: Subject Isolation through Image Segmentation</a:t>
            </a:r>
          </a:p>
        </p:txBody>
      </p:sp>
      <p:sp>
        <p:nvSpPr>
          <p:cNvPr id="4" name="Text 1"/>
          <p:cNvSpPr/>
          <p:nvPr/>
        </p:nvSpPr>
        <p:spPr>
          <a:xfrm>
            <a:off x="881063" y="4546640"/>
            <a:ext cx="7381875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2CDC7C-ED67-9BF5-E556-7848F55BC37D}"/>
              </a:ext>
            </a:extLst>
          </p:cNvPr>
          <p:cNvSpPr txBox="1"/>
          <p:nvPr/>
        </p:nvSpPr>
        <p:spPr>
          <a:xfrm>
            <a:off x="8874369" y="5194422"/>
            <a:ext cx="52167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Submitted By: Mounica Vaishnavi</a:t>
            </a:r>
          </a:p>
          <a:p>
            <a:r>
              <a:rPr lang="en-IN" sz="2800" dirty="0">
                <a:solidFill>
                  <a:schemeClr val="bg1"/>
                </a:solidFill>
              </a:rPr>
              <a:t>Guided By: Suman Sir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122C3-A375-AF7A-B820-D281A25A6517}"/>
              </a:ext>
            </a:extLst>
          </p:cNvPr>
          <p:cNvSpPr txBox="1"/>
          <p:nvPr/>
        </p:nvSpPr>
        <p:spPr>
          <a:xfrm>
            <a:off x="1453662" y="3692769"/>
            <a:ext cx="5756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AI-powered approach for automatic subject isolation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ED8F5-764E-DB07-466A-F58C9DD72383}"/>
              </a:ext>
            </a:extLst>
          </p:cNvPr>
          <p:cNvSpPr/>
          <p:nvPr/>
        </p:nvSpPr>
        <p:spPr>
          <a:xfrm>
            <a:off x="12684369" y="7620000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984720-F74E-66BD-9302-76BF7EBCEFE6}"/>
              </a:ext>
            </a:extLst>
          </p:cNvPr>
          <p:cNvSpPr txBox="1"/>
          <p:nvPr/>
        </p:nvSpPr>
        <p:spPr>
          <a:xfrm>
            <a:off x="3106615" y="668215"/>
            <a:ext cx="8182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Californian FB" panose="0207040306080B0302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61AFF-6981-998B-609C-9AC3FF50BE72}"/>
              </a:ext>
            </a:extLst>
          </p:cNvPr>
          <p:cNvSpPr txBox="1"/>
          <p:nvPr/>
        </p:nvSpPr>
        <p:spPr>
          <a:xfrm>
            <a:off x="773723" y="2168768"/>
            <a:ext cx="1315329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VisionExtract</a:t>
            </a:r>
            <a:r>
              <a:rPr lang="en-US" sz="3200" dirty="0">
                <a:solidFill>
                  <a:schemeClr val="bg1"/>
                </a:solidFill>
              </a:rPr>
              <a:t> is an advanced deep learning project aimed at automating the process of subject isolation from digital images.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The system employs </a:t>
            </a:r>
            <a:r>
              <a:rPr lang="en-US" sz="3200" b="1" dirty="0">
                <a:solidFill>
                  <a:schemeClr val="bg1"/>
                </a:solidFill>
              </a:rPr>
              <a:t>semantic segmentation techniques</a:t>
            </a:r>
            <a:r>
              <a:rPr lang="en-US" sz="3200" dirty="0">
                <a:solidFill>
                  <a:schemeClr val="bg1"/>
                </a:solidFill>
              </a:rPr>
              <a:t> to accurately differentiate the main subject from its background at the pixel </a:t>
            </a:r>
            <a:r>
              <a:rPr lang="en-US" sz="3200" dirty="0" err="1">
                <a:solidFill>
                  <a:schemeClr val="bg1"/>
                </a:solidFill>
              </a:rPr>
              <a:t>level.This</a:t>
            </a:r>
            <a:r>
              <a:rPr lang="en-US" sz="3200" dirty="0">
                <a:solidFill>
                  <a:schemeClr val="bg1"/>
                </a:solidFill>
              </a:rPr>
              <a:t> approach minimizes manual intervention and enhances the efficiency of image editing and processing </a:t>
            </a:r>
            <a:r>
              <a:rPr lang="en-US" sz="3200" dirty="0" err="1">
                <a:solidFill>
                  <a:schemeClr val="bg1"/>
                </a:solidFill>
              </a:rPr>
              <a:t>workflows.The</a:t>
            </a:r>
            <a:r>
              <a:rPr lang="en-US" sz="3200" dirty="0">
                <a:solidFill>
                  <a:schemeClr val="bg1"/>
                </a:solidFill>
              </a:rPr>
              <a:t> model has been deployed as an interactive </a:t>
            </a:r>
            <a:r>
              <a:rPr lang="en-US" sz="3200" b="1" dirty="0" err="1">
                <a:solidFill>
                  <a:schemeClr val="bg1"/>
                </a:solidFill>
              </a:rPr>
              <a:t>Streamlit</a:t>
            </a:r>
            <a:r>
              <a:rPr lang="en-US" sz="3200" b="1" dirty="0">
                <a:solidFill>
                  <a:schemeClr val="bg1"/>
                </a:solidFill>
              </a:rPr>
              <a:t> web application</a:t>
            </a:r>
            <a:r>
              <a:rPr lang="en-US" sz="3200" dirty="0">
                <a:solidFill>
                  <a:schemeClr val="bg1"/>
                </a:solidFill>
              </a:rPr>
              <a:t>, enabling real-time image upload and subject extraction.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896880-5B63-B095-C032-D16631AD99A7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63934" y="693182"/>
            <a:ext cx="6705362" cy="558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Californian FB" panose="0207040306080B030204" pitchFamily="18" charset="0"/>
              </a:rPr>
              <a:t>PROBLEM STATEMENT</a:t>
            </a:r>
          </a:p>
        </p:txBody>
      </p:sp>
      <p:sp>
        <p:nvSpPr>
          <p:cNvPr id="4" name="Shape 1"/>
          <p:cNvSpPr/>
          <p:nvPr/>
        </p:nvSpPr>
        <p:spPr>
          <a:xfrm>
            <a:off x="9989179" y="4862632"/>
            <a:ext cx="3304790" cy="2673668"/>
          </a:xfrm>
          <a:prstGeom prst="roundRect">
            <a:avLst>
              <a:gd name="adj" fmla="val 4756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867259" y="4862632"/>
            <a:ext cx="121920" cy="2673668"/>
          </a:xfrm>
          <a:prstGeom prst="roundRect">
            <a:avLst>
              <a:gd name="adj" fmla="val 309465"/>
            </a:avLst>
          </a:prstGeom>
          <a:solidFill>
            <a:srgbClr val="16FFBB"/>
          </a:solidFill>
          <a:ln/>
        </p:spPr>
      </p:sp>
      <p:sp>
        <p:nvSpPr>
          <p:cNvPr id="7" name="Text 4"/>
          <p:cNvSpPr/>
          <p:nvPr/>
        </p:nvSpPr>
        <p:spPr>
          <a:xfrm>
            <a:off x="1253728" y="2317075"/>
            <a:ext cx="2910602" cy="2012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5570805" y="4862632"/>
            <a:ext cx="3446586" cy="2673668"/>
          </a:xfrm>
          <a:prstGeom prst="roundRect">
            <a:avLst>
              <a:gd name="adj" fmla="val 4756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8885" y="4862632"/>
            <a:ext cx="121920" cy="2673668"/>
          </a:xfrm>
          <a:prstGeom prst="roundRect">
            <a:avLst>
              <a:gd name="adj" fmla="val 309465"/>
            </a:avLst>
          </a:prstGeom>
          <a:solidFill>
            <a:srgbClr val="29DDDA"/>
          </a:solidFill>
          <a:ln/>
        </p:spPr>
      </p:sp>
      <p:sp>
        <p:nvSpPr>
          <p:cNvPr id="11" name="Text 8"/>
          <p:cNvSpPr/>
          <p:nvPr/>
        </p:nvSpPr>
        <p:spPr>
          <a:xfrm>
            <a:off x="2108633" y="2654559"/>
            <a:ext cx="2910602" cy="160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880348" y="4862632"/>
            <a:ext cx="3565922" cy="2673668"/>
          </a:xfrm>
          <a:prstGeom prst="roundRect">
            <a:avLst>
              <a:gd name="adj" fmla="val 5472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9868" y="4862632"/>
            <a:ext cx="121920" cy="2673668"/>
          </a:xfrm>
          <a:prstGeom prst="roundRect">
            <a:avLst>
              <a:gd name="adj" fmla="val 309465"/>
            </a:avLst>
          </a:prstGeom>
          <a:solidFill>
            <a:srgbClr val="37A7E7"/>
          </a:solidFill>
          <a:ln/>
        </p:spPr>
      </p:sp>
      <p:sp>
        <p:nvSpPr>
          <p:cNvPr id="14" name="Text 11"/>
          <p:cNvSpPr/>
          <p:nvPr/>
        </p:nvSpPr>
        <p:spPr>
          <a:xfrm>
            <a:off x="1253728" y="5144572"/>
            <a:ext cx="2794754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u="sng" dirty="0">
                <a:solidFill>
                  <a:srgbClr val="E0E4E6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Challenge: </a:t>
            </a:r>
            <a:endParaRPr lang="en-US" sz="2400" u="sng" dirty="0">
              <a:latin typeface="Californian FB" panose="0207040306080B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53728" y="5697468"/>
            <a:ext cx="2910602" cy="160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bg1"/>
                </a:solidFill>
              </a:rPr>
              <a:t>Automatically isolating subjects from complex backgrounds requires high pixel accuracy.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CE8640-C1E5-51E0-C77C-458E890445E0}"/>
              </a:ext>
            </a:extLst>
          </p:cNvPr>
          <p:cNvSpPr txBox="1"/>
          <p:nvPr/>
        </p:nvSpPr>
        <p:spPr>
          <a:xfrm>
            <a:off x="849868" y="1840523"/>
            <a:ext cx="127020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Manual subject isolation from images is time-consuming, error-prone, and often dependent on expensive or limited software tools. There is a need for an automated, efficient, and accurate method to extract the main subject from any image.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7FA538-973D-74CB-26E2-0BE7F12A5F95}"/>
              </a:ext>
            </a:extLst>
          </p:cNvPr>
          <p:cNvSpPr txBox="1"/>
          <p:nvPr/>
        </p:nvSpPr>
        <p:spPr>
          <a:xfrm>
            <a:off x="5879003" y="5144572"/>
            <a:ext cx="2215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Californian FB" panose="0207040306080B030204" pitchFamily="18" charset="0"/>
              </a:rPr>
              <a:t>Goal: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80C485-665B-61F4-D539-9AAA3539E2C1}"/>
              </a:ext>
            </a:extLst>
          </p:cNvPr>
          <p:cNvSpPr txBox="1"/>
          <p:nvPr/>
        </p:nvSpPr>
        <p:spPr>
          <a:xfrm>
            <a:off x="5942394" y="5691634"/>
            <a:ext cx="2561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Achieve accurate subject isolation from diverse backgrounds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471E95-8D21-3F91-CD84-EFE8E23052C1}"/>
              </a:ext>
            </a:extLst>
          </p:cNvPr>
          <p:cNvSpPr txBox="1"/>
          <p:nvPr/>
        </p:nvSpPr>
        <p:spPr>
          <a:xfrm>
            <a:off x="10503877" y="5144572"/>
            <a:ext cx="1359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Californian FB" panose="0207040306080B030204" pitchFamily="18" charset="0"/>
              </a:rPr>
              <a:t>AI: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57EF48-49BF-52E6-C208-64F59E13656C}"/>
              </a:ext>
            </a:extLst>
          </p:cNvPr>
          <p:cNvSpPr txBox="1"/>
          <p:nvPr/>
        </p:nvSpPr>
        <p:spPr>
          <a:xfrm>
            <a:off x="10398368" y="5691634"/>
            <a:ext cx="2637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Leverage deep learning for automated segmentation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05DFD5-2905-650E-BDE1-5DB32D0C0E45}"/>
              </a:ext>
            </a:extLst>
          </p:cNvPr>
          <p:cNvSpPr/>
          <p:nvPr/>
        </p:nvSpPr>
        <p:spPr>
          <a:xfrm>
            <a:off x="12684369" y="7620000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7169" y="582134"/>
            <a:ext cx="5476637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OBJECTIVES</a:t>
            </a:r>
            <a:endParaRPr lang="en-US" sz="4000" dirty="0">
              <a:latin typeface="Californian FB" panose="0207040306080B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56201" y="3924795"/>
            <a:ext cx="2980968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56201" y="4775139"/>
            <a:ext cx="2980968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143389" y="3924795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43389" y="4425453"/>
            <a:ext cx="2981087" cy="201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D0065-1FE2-418A-7F69-86015FB6691C}"/>
              </a:ext>
            </a:extLst>
          </p:cNvPr>
          <p:cNvSpPr txBox="1"/>
          <p:nvPr/>
        </p:nvSpPr>
        <p:spPr>
          <a:xfrm>
            <a:off x="916488" y="1609297"/>
            <a:ext cx="121179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Main Objective: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 develop an intelligent image segmentation system, </a:t>
            </a:r>
            <a:r>
              <a:rPr lang="en-US" sz="2400" b="1" dirty="0" err="1">
                <a:solidFill>
                  <a:schemeClr val="bg1"/>
                </a:solidFill>
              </a:rPr>
              <a:t>VisionExtract</a:t>
            </a:r>
            <a:r>
              <a:rPr lang="en-US" sz="2400" dirty="0">
                <a:solidFill>
                  <a:schemeClr val="bg1"/>
                </a:solidFill>
              </a:rPr>
              <a:t>, capable of automatically isolating the main subject from any image using deep learning.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u="sng" dirty="0">
                <a:solidFill>
                  <a:schemeClr val="bg1"/>
                </a:solidFill>
              </a:rPr>
              <a:t>Key Objectives: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Implement </a:t>
            </a:r>
            <a:r>
              <a:rPr lang="en-US" sz="2400" b="1" dirty="0">
                <a:solidFill>
                  <a:schemeClr val="bg1"/>
                </a:solidFill>
              </a:rPr>
              <a:t>semantic segmentation</a:t>
            </a:r>
            <a:r>
              <a:rPr lang="en-US" sz="2400" dirty="0">
                <a:solidFill>
                  <a:schemeClr val="bg1"/>
                </a:solidFill>
              </a:rPr>
              <a:t> to achieve pixel-level subject extraction with high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Enable users to </a:t>
            </a:r>
            <a:r>
              <a:rPr lang="en-US" sz="2400" b="1" dirty="0">
                <a:solidFill>
                  <a:schemeClr val="bg1"/>
                </a:solidFill>
              </a:rPr>
              <a:t>upload images</a:t>
            </a:r>
            <a:r>
              <a:rPr lang="en-US" sz="2400" dirty="0">
                <a:solidFill>
                  <a:schemeClr val="bg1"/>
                </a:solidFill>
              </a:rPr>
              <a:t> and generate isolated subject outputs automatically.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Provide </a:t>
            </a:r>
            <a:r>
              <a:rPr lang="en-US" sz="2400" b="1" dirty="0">
                <a:solidFill>
                  <a:schemeClr val="bg1"/>
                </a:solidFill>
              </a:rPr>
              <a:t>side-by-side visualization</a:t>
            </a:r>
            <a:r>
              <a:rPr lang="en-US" sz="2400" dirty="0">
                <a:solidFill>
                  <a:schemeClr val="bg1"/>
                </a:solidFill>
              </a:rPr>
              <a:t> of the original and masked images for better comparison.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Allow users to </a:t>
            </a:r>
            <a:r>
              <a:rPr lang="en-US" sz="2400" b="1" dirty="0">
                <a:solidFill>
                  <a:schemeClr val="bg1"/>
                </a:solidFill>
              </a:rPr>
              <a:t>download the masked images</a:t>
            </a:r>
            <a:r>
              <a:rPr lang="en-US" sz="2400" dirty="0">
                <a:solidFill>
                  <a:schemeClr val="bg1"/>
                </a:solidFill>
              </a:rPr>
              <a:t> seamlessly.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Deploy the complete pipeline on </a:t>
            </a:r>
            <a:r>
              <a:rPr lang="en-US" sz="2400" b="1" dirty="0" err="1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, ensuring a clean, user-friendly, and interactive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Optimize model performance through </a:t>
            </a:r>
            <a:r>
              <a:rPr lang="en-US" sz="2400" b="1" dirty="0">
                <a:solidFill>
                  <a:schemeClr val="bg1"/>
                </a:solidFill>
              </a:rPr>
              <a:t>fine-tuning and evaluation</a:t>
            </a:r>
            <a:r>
              <a:rPr lang="en-US" sz="2400" dirty="0">
                <a:solidFill>
                  <a:schemeClr val="bg1"/>
                </a:solidFill>
              </a:rPr>
              <a:t> using metrics like </a:t>
            </a:r>
            <a:r>
              <a:rPr lang="en-US" sz="2400" dirty="0" err="1">
                <a:solidFill>
                  <a:schemeClr val="bg1"/>
                </a:solidFill>
              </a:rPr>
              <a:t>IoU</a:t>
            </a:r>
            <a:r>
              <a:rPr lang="en-US" sz="2400" dirty="0">
                <a:solidFill>
                  <a:schemeClr val="bg1"/>
                </a:solidFill>
              </a:rPr>
              <a:t> and Dice Coefficient.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A61A51-B0D1-5F12-2CE8-8DFCB322F6AA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9515" y="691039"/>
            <a:ext cx="8977193" cy="558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b="1" dirty="0">
                <a:solidFill>
                  <a:schemeClr val="bg1"/>
                </a:solidFill>
                <a:latin typeface="Californian FB" panose="0207040306080B030204" pitchFamily="18" charset="0"/>
              </a:rPr>
              <a:t>Use Case: Automated Subject Isolation</a:t>
            </a:r>
          </a:p>
        </p:txBody>
      </p:sp>
      <p:sp>
        <p:nvSpPr>
          <p:cNvPr id="3" name="Text 1"/>
          <p:cNvSpPr/>
          <p:nvPr/>
        </p:nvSpPr>
        <p:spPr>
          <a:xfrm>
            <a:off x="879515" y="1758196"/>
            <a:ext cx="6803231" cy="1206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79515" y="3190518"/>
            <a:ext cx="6803231" cy="80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endParaRPr lang="en-US" sz="1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2C9EBA-004E-681F-322D-61FB1CA3C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769" y="1781642"/>
            <a:ext cx="4876800" cy="4091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A05639-C79B-24FF-0575-405995120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731" y="1781642"/>
            <a:ext cx="4876800" cy="409162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24AA7A-C3A8-FCDF-1E6F-51CA3F3CE13C}"/>
              </a:ext>
            </a:extLst>
          </p:cNvPr>
          <p:cNvSpPr/>
          <p:nvPr/>
        </p:nvSpPr>
        <p:spPr>
          <a:xfrm>
            <a:off x="1481239" y="1938758"/>
            <a:ext cx="1184031" cy="4454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BEFORE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CB5044-1344-E53B-2A57-813C529D0D44}"/>
              </a:ext>
            </a:extLst>
          </p:cNvPr>
          <p:cNvSpPr/>
          <p:nvPr/>
        </p:nvSpPr>
        <p:spPr>
          <a:xfrm>
            <a:off x="7682746" y="1938757"/>
            <a:ext cx="1121285" cy="4454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AFTER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B272B9-C1B5-B70A-6A4E-93C296BDF478}"/>
              </a:ext>
            </a:extLst>
          </p:cNvPr>
          <p:cNvSpPr txBox="1"/>
          <p:nvPr/>
        </p:nvSpPr>
        <p:spPr>
          <a:xfrm>
            <a:off x="1196038" y="6615231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Instant subject extraction from any image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High-precision mask generation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Real-time processing capabilities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88E6ED-7DDF-D5B4-0D3B-B334AA8E7127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3B13-69D2-5040-7500-C3DEB20F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081D75-0E73-DB62-292A-16D02C4A1DFC}"/>
              </a:ext>
            </a:extLst>
          </p:cNvPr>
          <p:cNvSpPr/>
          <p:nvPr/>
        </p:nvSpPr>
        <p:spPr>
          <a:xfrm>
            <a:off x="4237169" y="582134"/>
            <a:ext cx="5476637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DATASET INFORMATION</a:t>
            </a:r>
            <a:endParaRPr lang="en-US" sz="4000" dirty="0">
              <a:solidFill>
                <a:schemeClr val="bg1"/>
              </a:solidFill>
              <a:latin typeface="Californian FB" panose="0207040306080B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88048-E046-3452-B69B-DFAB365824DD}"/>
              </a:ext>
            </a:extLst>
          </p:cNvPr>
          <p:cNvSpPr txBox="1"/>
          <p:nvPr/>
        </p:nvSpPr>
        <p:spPr>
          <a:xfrm>
            <a:off x="879230" y="1842831"/>
            <a:ext cx="113010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bg1"/>
                </a:solidFill>
              </a:rPr>
              <a:t>COCO 2017 dataset provides comprehensive annotations for training robust segmentation models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59606B-260E-2032-65E2-B1425B2EB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004735"/>
              </p:ext>
            </p:extLst>
          </p:nvPr>
        </p:nvGraphicFramePr>
        <p:xfrm>
          <a:off x="879230" y="3759199"/>
          <a:ext cx="12660925" cy="311052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32185">
                  <a:extLst>
                    <a:ext uri="{9D8B030D-6E8A-4147-A177-3AD203B41FA5}">
                      <a16:colId xmlns:a16="http://schemas.microsoft.com/office/drawing/2014/main" val="1217532041"/>
                    </a:ext>
                  </a:extLst>
                </a:gridCol>
                <a:gridCol w="2532185">
                  <a:extLst>
                    <a:ext uri="{9D8B030D-6E8A-4147-A177-3AD203B41FA5}">
                      <a16:colId xmlns:a16="http://schemas.microsoft.com/office/drawing/2014/main" val="3225063244"/>
                    </a:ext>
                  </a:extLst>
                </a:gridCol>
                <a:gridCol w="2532185">
                  <a:extLst>
                    <a:ext uri="{9D8B030D-6E8A-4147-A177-3AD203B41FA5}">
                      <a16:colId xmlns:a16="http://schemas.microsoft.com/office/drawing/2014/main" val="2429117574"/>
                    </a:ext>
                  </a:extLst>
                </a:gridCol>
                <a:gridCol w="2532185">
                  <a:extLst>
                    <a:ext uri="{9D8B030D-6E8A-4147-A177-3AD203B41FA5}">
                      <a16:colId xmlns:a16="http://schemas.microsoft.com/office/drawing/2014/main" val="1583055997"/>
                    </a:ext>
                  </a:extLst>
                </a:gridCol>
                <a:gridCol w="2532185">
                  <a:extLst>
                    <a:ext uri="{9D8B030D-6E8A-4147-A177-3AD203B41FA5}">
                      <a16:colId xmlns:a16="http://schemas.microsoft.com/office/drawing/2014/main" val="2211082308"/>
                    </a:ext>
                  </a:extLst>
                </a:gridCol>
              </a:tblGrid>
              <a:tr h="777631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578124"/>
                  </a:ext>
                </a:extLst>
              </a:tr>
              <a:tr h="777631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COCO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118,287</a:t>
                      </a:r>
                    </a:p>
                    <a:p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1.5M+</a:t>
                      </a:r>
                    </a:p>
                    <a:p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Kaggle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6713"/>
                  </a:ext>
                </a:extLst>
              </a:tr>
              <a:tr h="777631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82,783</a:t>
                      </a:r>
                    </a:p>
                    <a:p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1.0M+</a:t>
                      </a:r>
                    </a:p>
                    <a:p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COCO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44357"/>
                  </a:ext>
                </a:extLst>
              </a:tr>
              <a:tr h="777631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40,504</a:t>
                      </a:r>
                    </a:p>
                    <a:p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500K+</a:t>
                      </a:r>
                    </a:p>
                    <a:p>
                      <a:endParaRPr lang="en-IN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COCO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657214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B54FE6F-5D70-B575-62FC-4426E622FE01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244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7842" y="630436"/>
            <a:ext cx="7207091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VisionExtract Development Workflow</a:t>
            </a:r>
            <a:endParaRPr lang="en-US" sz="4000" dirty="0">
              <a:latin typeface="Californian FB" panose="0207040306080B03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59" y="1598295"/>
            <a:ext cx="12918281" cy="557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5290" y="6132931"/>
            <a:ext cx="2605104" cy="32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000000"/>
                </a:solidFill>
                <a:ea typeface="Spline Sans Bold" pitchFamily="34" charset="-122"/>
                <a:cs typeface="Spline Sans Bold" pitchFamily="34" charset="-120"/>
              </a:rPr>
              <a:t>Inference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725290" y="4843405"/>
            <a:ext cx="2605104" cy="32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000000"/>
                </a:solidFill>
                <a:ea typeface="Spline Sans Bold" pitchFamily="34" charset="-122"/>
                <a:cs typeface="Spline Sans Bold" pitchFamily="34" charset="-120"/>
              </a:rPr>
              <a:t>Evaluation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25290" y="3566904"/>
            <a:ext cx="2605104" cy="32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000000"/>
                </a:solidFill>
                <a:ea typeface="Spline Sans Bold" pitchFamily="34" charset="-122"/>
                <a:cs typeface="Spline Sans Bold" pitchFamily="34" charset="-120"/>
              </a:rPr>
              <a:t>Model Training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25290" y="2277378"/>
            <a:ext cx="2605104" cy="32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000000"/>
                </a:solidFill>
                <a:ea typeface="Spline Sans Bold" pitchFamily="34" charset="-122"/>
                <a:cs typeface="Spline Sans Bold" pitchFamily="34" charset="-120"/>
              </a:rPr>
              <a:t>Preprocessing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25101" y="7231673"/>
            <a:ext cx="13025676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Our development journey spanned a comprehensive pipeline, ensuring robust performance from data preparation to deployment.</a:t>
            </a:r>
            <a:endParaRPr lang="en-US" sz="18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BA2A5-781E-05A7-DEBA-C93FB7997959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9967" y="1031838"/>
            <a:ext cx="5274231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Evaluation: Metrics and Visual Prowess</a:t>
            </a:r>
            <a:endParaRPr lang="en-US" sz="4400" dirty="0">
              <a:latin typeface="Californian FB" panose="0207040306080B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23770" y="3543564"/>
            <a:ext cx="1987272" cy="33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0.87</a:t>
            </a:r>
            <a:endParaRPr lang="en-US" sz="3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574" y="2546666"/>
            <a:ext cx="2439664" cy="243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859" y="5159537"/>
            <a:ext cx="1795224" cy="185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IoU Score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02332" y="5766663"/>
            <a:ext cx="4203621" cy="51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Intersection over Union (IoU) indicating strong overlap between predicted and ground truth masks.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13568" y="3543564"/>
            <a:ext cx="1987272" cy="33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0.91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368" y="2561779"/>
            <a:ext cx="2439664" cy="2439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1369" y="5159537"/>
            <a:ext cx="1795224" cy="185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Dice Coefficient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415319" y="5784704"/>
            <a:ext cx="4203621" cy="42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Reflecting excellent similarity and contour accuracy of the segmented subjects.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822960" y="3543564"/>
            <a:ext cx="1987272" cy="333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94%</a:t>
            </a:r>
            <a:endParaRPr lang="en-US" sz="3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7326" y="2765045"/>
            <a:ext cx="2002906" cy="20029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18984" y="5159537"/>
            <a:ext cx="1795224" cy="185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Overall Accuracy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9947186" y="5811523"/>
            <a:ext cx="4203621" cy="42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High pixel-level accuracy in distinguishing subjects from backgrounds.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07839" y="7309980"/>
            <a:ext cx="13014722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4F050A-53F3-EF33-E8E6-3A45DBC8C22A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602" y="638532"/>
            <a:ext cx="10479167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50"/>
              </a:lnSpc>
            </a:pPr>
            <a:r>
              <a:rPr lang="en-US" sz="4000" b="1" dirty="0">
                <a:solidFill>
                  <a:schemeClr val="bg1"/>
                </a:solidFill>
                <a:latin typeface="Californian FB" panose="0207040306080B030204" pitchFamily="18" charset="0"/>
              </a:rPr>
              <a:t>Model Architecture: DeepLabV3 with ResNet-50 Backbone</a:t>
            </a:r>
          </a:p>
        </p:txBody>
      </p:sp>
      <p:sp>
        <p:nvSpPr>
          <p:cNvPr id="3" name="Text 1"/>
          <p:cNvSpPr/>
          <p:nvPr/>
        </p:nvSpPr>
        <p:spPr>
          <a:xfrm>
            <a:off x="812602" y="1624608"/>
            <a:ext cx="6219349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C769DD-B0BF-E654-402E-7E7E3C08F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573" y="4504588"/>
            <a:ext cx="5103470" cy="296301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C9A753E-FC1F-4E99-4CDB-19729D2086DA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E20097-6131-908F-1F10-F9FBDBEE7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48" y="1823387"/>
            <a:ext cx="7100476" cy="5035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VisionExtract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is powered by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DeepLabV3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architecture, a state-of-the-art deep learning model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semantic image segmentation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It utilizes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ResNet-50 backbone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extract high-level image features while preserving spatial details.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model employs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Atrous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(dilated) convolutions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capture objects at multiple scales and improve boundary precision.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 combination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Binary Cross-Entropy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Dice Loss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is used for accurate subject-background separation.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output layer uses a Sigmoid activation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produce a clean binary mask highlighting the isolated subject.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DeepLabV3’s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multi-scale context understanding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enables robust subject isolation even in complex backgrounds.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67D102-CE3F-AF92-E9BD-702C699A2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573" y="1474039"/>
            <a:ext cx="5067856" cy="2529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244143"/>
            <a:ext cx="10758249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Overcoming Challenges: Fine-Tuning for Perfection</a:t>
            </a:r>
            <a:endParaRPr lang="en-US" sz="4000" dirty="0">
              <a:latin typeface="Californian FB" panose="0207040306080B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81063" y="2980015"/>
            <a:ext cx="4121587" cy="3023830"/>
          </a:xfrm>
          <a:prstGeom prst="roundRect">
            <a:avLst>
              <a:gd name="adj" fmla="val 4838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1063" y="2949535"/>
            <a:ext cx="4121587" cy="121920"/>
          </a:xfrm>
          <a:prstGeom prst="roundRect">
            <a:avLst>
              <a:gd name="adj" fmla="val 309751"/>
            </a:avLst>
          </a:prstGeom>
          <a:solidFill>
            <a:srgbClr val="16FFBB"/>
          </a:solidFill>
          <a:ln/>
        </p:spPr>
      </p:sp>
      <p:sp>
        <p:nvSpPr>
          <p:cNvPr id="5" name="Shape 3"/>
          <p:cNvSpPr/>
          <p:nvPr/>
        </p:nvSpPr>
        <p:spPr>
          <a:xfrm>
            <a:off x="2564190" y="2602468"/>
            <a:ext cx="755213" cy="755213"/>
          </a:xfrm>
          <a:prstGeom prst="roundRect">
            <a:avLst>
              <a:gd name="adj" fmla="val 121078"/>
            </a:avLst>
          </a:prstGeom>
          <a:solidFill>
            <a:srgbClr val="16FFB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765" y="2791301"/>
            <a:ext cx="302062" cy="3775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3241" y="3609380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b="1" dirty="0">
                <a:solidFill>
                  <a:schemeClr val="bg1"/>
                </a:solidFill>
              </a:rPr>
              <a:t>Hyperparameter Tuning</a:t>
            </a:r>
          </a:p>
        </p:txBody>
      </p:sp>
      <p:sp>
        <p:nvSpPr>
          <p:cNvPr id="8" name="Text 5"/>
          <p:cNvSpPr/>
          <p:nvPr/>
        </p:nvSpPr>
        <p:spPr>
          <a:xfrm>
            <a:off x="1163241" y="4110038"/>
            <a:ext cx="3557230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/>
                </a:solidFill>
              </a:rPr>
              <a:t>Optimizing learning rate, batch size, and network depth</a:t>
            </a:r>
          </a:p>
        </p:txBody>
      </p:sp>
      <p:sp>
        <p:nvSpPr>
          <p:cNvPr id="9" name="Shape 6"/>
          <p:cNvSpPr/>
          <p:nvPr/>
        </p:nvSpPr>
        <p:spPr>
          <a:xfrm>
            <a:off x="5254347" y="2980015"/>
            <a:ext cx="4121587" cy="3023830"/>
          </a:xfrm>
          <a:prstGeom prst="roundRect">
            <a:avLst>
              <a:gd name="adj" fmla="val 4838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254347" y="2949535"/>
            <a:ext cx="4121587" cy="121920"/>
          </a:xfrm>
          <a:prstGeom prst="roundRect">
            <a:avLst>
              <a:gd name="adj" fmla="val 309751"/>
            </a:avLst>
          </a:prstGeom>
          <a:solidFill>
            <a:srgbClr val="29DDDA"/>
          </a:solidFill>
          <a:ln/>
        </p:spPr>
      </p:sp>
      <p:sp>
        <p:nvSpPr>
          <p:cNvPr id="11" name="Shape 8"/>
          <p:cNvSpPr/>
          <p:nvPr/>
        </p:nvSpPr>
        <p:spPr>
          <a:xfrm>
            <a:off x="6937474" y="2602468"/>
            <a:ext cx="755213" cy="755213"/>
          </a:xfrm>
          <a:prstGeom prst="roundRect">
            <a:avLst>
              <a:gd name="adj" fmla="val 121078"/>
            </a:avLst>
          </a:prstGeom>
          <a:solidFill>
            <a:srgbClr val="16FFB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050" y="2791301"/>
            <a:ext cx="302062" cy="3775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6525" y="3609380"/>
            <a:ext cx="3208377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b="1" dirty="0">
                <a:solidFill>
                  <a:schemeClr val="bg1"/>
                </a:solidFill>
              </a:rPr>
              <a:t>Edge Cases</a:t>
            </a:r>
          </a:p>
        </p:txBody>
      </p:sp>
      <p:sp>
        <p:nvSpPr>
          <p:cNvPr id="14" name="Text 10"/>
          <p:cNvSpPr/>
          <p:nvPr/>
        </p:nvSpPr>
        <p:spPr>
          <a:xfrm>
            <a:off x="5536524" y="4110038"/>
            <a:ext cx="3443353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/>
                </a:solidFill>
              </a:rPr>
              <a:t>Handling complex backgrounds and overlapping objects</a:t>
            </a:r>
          </a:p>
        </p:txBody>
      </p:sp>
      <p:sp>
        <p:nvSpPr>
          <p:cNvPr id="15" name="Shape 11"/>
          <p:cNvSpPr/>
          <p:nvPr/>
        </p:nvSpPr>
        <p:spPr>
          <a:xfrm>
            <a:off x="9627632" y="2980015"/>
            <a:ext cx="4121706" cy="3023830"/>
          </a:xfrm>
          <a:prstGeom prst="roundRect">
            <a:avLst>
              <a:gd name="adj" fmla="val 4838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9627632" y="2949535"/>
            <a:ext cx="4121706" cy="121920"/>
          </a:xfrm>
          <a:prstGeom prst="roundRect">
            <a:avLst>
              <a:gd name="adj" fmla="val 309751"/>
            </a:avLst>
          </a:prstGeom>
          <a:solidFill>
            <a:srgbClr val="37A7E7"/>
          </a:solidFill>
          <a:ln/>
        </p:spPr>
      </p:sp>
      <p:sp>
        <p:nvSpPr>
          <p:cNvPr id="17" name="Shape 13"/>
          <p:cNvSpPr/>
          <p:nvPr/>
        </p:nvSpPr>
        <p:spPr>
          <a:xfrm>
            <a:off x="11310878" y="2602468"/>
            <a:ext cx="755213" cy="755213"/>
          </a:xfrm>
          <a:prstGeom prst="roundRect">
            <a:avLst>
              <a:gd name="adj" fmla="val 121078"/>
            </a:avLst>
          </a:prstGeom>
          <a:solidFill>
            <a:srgbClr val="16FFB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7454" y="2791301"/>
            <a:ext cx="302062" cy="3775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909810" y="3609380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400" b="1" dirty="0">
                <a:solidFill>
                  <a:schemeClr val="bg1"/>
                </a:solidFill>
              </a:rPr>
              <a:t>Data Augmentation</a:t>
            </a:r>
          </a:p>
        </p:txBody>
      </p:sp>
      <p:sp>
        <p:nvSpPr>
          <p:cNvPr id="20" name="Text 15"/>
          <p:cNvSpPr/>
          <p:nvPr/>
        </p:nvSpPr>
        <p:spPr>
          <a:xfrm>
            <a:off x="9909810" y="4110038"/>
            <a:ext cx="3557349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000" dirty="0">
                <a:solidFill>
                  <a:schemeClr val="bg1"/>
                </a:solidFill>
              </a:rPr>
              <a:t>Balancing augmentation techniques to prevent overfitting</a:t>
            </a:r>
          </a:p>
        </p:txBody>
      </p:sp>
      <p:sp>
        <p:nvSpPr>
          <p:cNvPr id="21" name="Text 16"/>
          <p:cNvSpPr/>
          <p:nvPr/>
        </p:nvSpPr>
        <p:spPr>
          <a:xfrm>
            <a:off x="881063" y="6286976"/>
            <a:ext cx="12868275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Each challenge presented an opportunity for refinement, leading to a more resilient and accurate model.</a:t>
            </a:r>
            <a:endParaRPr lang="en-US" sz="2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DE9C76-8053-7B98-3480-685F910FDE74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6652" y="490538"/>
            <a:ext cx="6528554" cy="396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Deployment: VisionExtract Live on Streamlit</a:t>
            </a:r>
            <a:endParaRPr lang="en-US" sz="4000" dirty="0">
              <a:latin typeface="Californian FB" panose="0207040306080B03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250314" y="1277816"/>
            <a:ext cx="4896400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 err="1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VisionExtract</a:t>
            </a:r>
            <a:r>
              <a:rPr lang="en-US" sz="2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 is deployed as an intuitive web application using </a:t>
            </a:r>
            <a:r>
              <a:rPr lang="en-US" sz="2200" dirty="0" err="1">
                <a:solidFill>
                  <a:srgbClr val="64B8CE"/>
                </a:solidFill>
                <a:ea typeface="Barlow" pitchFamily="34" charset="-122"/>
                <a:cs typeface="Barlow" pitchFamily="34" charset="-120"/>
              </a:rPr>
              <a:t>Streamlit</a:t>
            </a:r>
            <a:r>
              <a:rPr lang="en-US" sz="22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, making advanced segmentation accessible to everyone.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866083" y="2569465"/>
            <a:ext cx="4829101" cy="69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200"/>
              </a:lnSpc>
              <a:buSzPct val="100000"/>
            </a:pPr>
            <a:r>
              <a:rPr lang="en-US" sz="2000" dirty="0">
                <a:solidFill>
                  <a:srgbClr val="95CCDA"/>
                </a:solidFill>
                <a:ea typeface="Barlow" pitchFamily="34" charset="-122"/>
                <a:cs typeface="Barlow" pitchFamily="34" charset="-120"/>
              </a:rPr>
              <a:t>       </a:t>
            </a:r>
            <a:r>
              <a:rPr lang="en-US" sz="2400" b="1" dirty="0">
                <a:solidFill>
                  <a:srgbClr val="95CCDA"/>
                </a:solidFill>
                <a:ea typeface="Barlow" pitchFamily="34" charset="-122"/>
                <a:cs typeface="Barlow" pitchFamily="34" charset="-120"/>
              </a:rPr>
              <a:t>Upload Image:</a:t>
            </a:r>
            <a:r>
              <a:rPr lang="en-US" sz="2400" b="1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 </a:t>
            </a:r>
          </a:p>
          <a:p>
            <a:pPr algn="l">
              <a:lnSpc>
                <a:spcPts val="2200"/>
              </a:lnSpc>
              <a:buSzPct val="100000"/>
            </a:pPr>
            <a:r>
              <a:rPr lang="en-US" sz="20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       Easily submit your own images for processing.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210685" y="3347443"/>
            <a:ext cx="5419715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200"/>
              </a:lnSpc>
              <a:buSzPct val="100000"/>
            </a:pPr>
            <a:r>
              <a:rPr lang="en-US" sz="2000" b="1" dirty="0">
                <a:solidFill>
                  <a:srgbClr val="C3643D"/>
                </a:solidFill>
                <a:ea typeface="Barlow" pitchFamily="34" charset="-122"/>
                <a:cs typeface="Barlow" pitchFamily="34" charset="-120"/>
              </a:rPr>
              <a:t> </a:t>
            </a:r>
            <a:r>
              <a:rPr lang="en-US" sz="2400" b="1" dirty="0">
                <a:solidFill>
                  <a:srgbClr val="C3643D"/>
                </a:solidFill>
                <a:ea typeface="Barlow" pitchFamily="34" charset="-122"/>
                <a:cs typeface="Barlow" pitchFamily="34" charset="-120"/>
              </a:rPr>
              <a:t>View Result:</a:t>
            </a:r>
          </a:p>
          <a:p>
            <a:pPr algn="l">
              <a:lnSpc>
                <a:spcPts val="2200"/>
              </a:lnSpc>
              <a:buSzPct val="100000"/>
            </a:pPr>
            <a:r>
              <a:rPr lang="en-US" sz="20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Instantly see the segmented subject against a clean background.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250314" y="4455581"/>
            <a:ext cx="5475699" cy="57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200"/>
              </a:lnSpc>
              <a:buSzPct val="100000"/>
            </a:pPr>
            <a:r>
              <a:rPr lang="en-US" sz="2400" b="1" dirty="0">
                <a:solidFill>
                  <a:srgbClr val="C7E0E7"/>
                </a:solidFill>
                <a:ea typeface="Barlow" pitchFamily="34" charset="-122"/>
                <a:cs typeface="Barlow" pitchFamily="34" charset="-120"/>
              </a:rPr>
              <a:t>Download Mask:</a:t>
            </a:r>
            <a:endParaRPr lang="en-US" sz="2400" b="1" dirty="0">
              <a:solidFill>
                <a:srgbClr val="E0E4E6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algn="l">
              <a:lnSpc>
                <a:spcPts val="2200"/>
              </a:lnSpc>
              <a:buSzPct val="100000"/>
            </a:pPr>
            <a:r>
              <a:rPr lang="en-US" sz="20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Obtain the isolated subject for further creative use.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250314" y="6866249"/>
            <a:ext cx="5091470" cy="285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Experience VisionExtract live: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/>
              </a:rPr>
              <a:t>https://visionextract.streamlit.app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E249BB-0AB6-231B-C9A8-28324692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86" y="1277816"/>
            <a:ext cx="8382397" cy="3415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C12500-E8D0-651A-2E7A-FCD3D2659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709" y="4979197"/>
            <a:ext cx="4170375" cy="30003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3EFEE8-576E-4176-39DF-3CF8D3B98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686" y="4979197"/>
            <a:ext cx="4069210" cy="30003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C4E4BF-5F10-99BB-8534-A0BC6F212054}"/>
              </a:ext>
            </a:extLst>
          </p:cNvPr>
          <p:cNvSpPr txBox="1"/>
          <p:nvPr/>
        </p:nvSpPr>
        <p:spPr>
          <a:xfrm>
            <a:off x="9109637" y="5603998"/>
            <a:ext cx="5137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 displays all previously uploaded and processed images, allowing users to easily view, compare, and download their past results.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8DFB47-4DBB-E2AA-9366-DDE392A2A065}"/>
              </a:ext>
            </a:extLst>
          </p:cNvPr>
          <p:cNvSpPr txBox="1"/>
          <p:nvPr/>
        </p:nvSpPr>
        <p:spPr>
          <a:xfrm>
            <a:off x="9109637" y="5249627"/>
            <a:ext cx="7362092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buSzPct val="100000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Barlow" pitchFamily="34" charset="-122"/>
                <a:cs typeface="Barlow" pitchFamily="34" charset="-120"/>
              </a:rPr>
              <a:t>Show Gallery: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A4396C-B992-50F7-51A4-70961EB5C0E2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16A24-E6C7-0FF1-46F5-15F90F9E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18A62D-E4E6-ECEE-546D-06089BAA6F6A}"/>
              </a:ext>
            </a:extLst>
          </p:cNvPr>
          <p:cNvSpPr/>
          <p:nvPr/>
        </p:nvSpPr>
        <p:spPr>
          <a:xfrm>
            <a:off x="4237169" y="582134"/>
            <a:ext cx="5476637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0FCFF"/>
                </a:solidFill>
                <a:latin typeface="Californian FB" panose="0207040306080B030204" pitchFamily="18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4000" dirty="0">
              <a:latin typeface="Californian FB" panose="0207040306080B03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CFD2AC-82F5-E738-A388-F17F24C7D50A}"/>
              </a:ext>
            </a:extLst>
          </p:cNvPr>
          <p:cNvSpPr/>
          <p:nvPr/>
        </p:nvSpPr>
        <p:spPr>
          <a:xfrm>
            <a:off x="1256201" y="3924795"/>
            <a:ext cx="2980968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EAF189-EA00-83D5-D8C6-4DD2DCEC3EEF}"/>
              </a:ext>
            </a:extLst>
          </p:cNvPr>
          <p:cNvSpPr/>
          <p:nvPr/>
        </p:nvSpPr>
        <p:spPr>
          <a:xfrm>
            <a:off x="1256201" y="4775139"/>
            <a:ext cx="2980968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839977-6933-1895-1AF1-D3BDD024ADEC}"/>
              </a:ext>
            </a:extLst>
          </p:cNvPr>
          <p:cNvSpPr/>
          <p:nvPr/>
        </p:nvSpPr>
        <p:spPr>
          <a:xfrm>
            <a:off x="11143389" y="3924795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D0C8B7-2BFF-36CB-4BC6-FE081027220E}"/>
              </a:ext>
            </a:extLst>
          </p:cNvPr>
          <p:cNvSpPr/>
          <p:nvPr/>
        </p:nvSpPr>
        <p:spPr>
          <a:xfrm>
            <a:off x="11143389" y="4425453"/>
            <a:ext cx="2981087" cy="2014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19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750691-D920-1A51-D69F-5A21627AA502}"/>
              </a:ext>
            </a:extLst>
          </p:cNvPr>
          <p:cNvSpPr txBox="1"/>
          <p:nvPr/>
        </p:nvSpPr>
        <p:spPr>
          <a:xfrm>
            <a:off x="1100202" y="1915676"/>
            <a:ext cx="130242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 err="1">
                <a:solidFill>
                  <a:schemeClr val="bg1"/>
                </a:solidFill>
              </a:rPr>
              <a:t>VisionExtract</a:t>
            </a:r>
            <a:r>
              <a:rPr lang="en-US" sz="3200" dirty="0">
                <a:solidFill>
                  <a:schemeClr val="bg1"/>
                </a:solidFill>
              </a:rPr>
              <a:t> successfully automates the process of subject isolation using deep learning–based image </a:t>
            </a:r>
            <a:r>
              <a:rPr lang="en-US" sz="3200" dirty="0" err="1">
                <a:solidFill>
                  <a:schemeClr val="bg1"/>
                </a:solidFill>
              </a:rPr>
              <a:t>segmentation.By</a:t>
            </a:r>
            <a:r>
              <a:rPr lang="en-US" sz="3200" dirty="0">
                <a:solidFill>
                  <a:schemeClr val="bg1"/>
                </a:solidFill>
              </a:rPr>
              <a:t> leveraging the U-Net architecture, it accurately separates the main subject from complex backgrounds with minimal human </a:t>
            </a:r>
            <a:r>
              <a:rPr lang="en-US" sz="3200" dirty="0" err="1">
                <a:solidFill>
                  <a:schemeClr val="bg1"/>
                </a:solidFill>
              </a:rPr>
              <a:t>effort.The</a:t>
            </a:r>
            <a:r>
              <a:rPr lang="en-US" sz="3200" dirty="0">
                <a:solidFill>
                  <a:schemeClr val="bg1"/>
                </a:solidFill>
              </a:rPr>
              <a:t> project demonstrates the power of semantic segmentation in real-world applications like digital editing and AR/</a:t>
            </a:r>
            <a:r>
              <a:rPr lang="en-US" sz="3200" dirty="0" err="1">
                <a:solidFill>
                  <a:schemeClr val="bg1"/>
                </a:solidFill>
              </a:rPr>
              <a:t>VR.Its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Streamlit</a:t>
            </a:r>
            <a:r>
              <a:rPr lang="en-US" sz="3200" dirty="0">
                <a:solidFill>
                  <a:schemeClr val="bg1"/>
                </a:solidFill>
              </a:rPr>
              <a:t>-based interface ensures an interactive and user-friendly experience for non-technical </a:t>
            </a:r>
            <a:r>
              <a:rPr lang="en-US" sz="3200" dirty="0" err="1">
                <a:solidFill>
                  <a:schemeClr val="bg1"/>
                </a:solidFill>
              </a:rPr>
              <a:t>users.Overall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VisionExtract</a:t>
            </a:r>
            <a:r>
              <a:rPr lang="en-US" sz="3200" dirty="0">
                <a:solidFill>
                  <a:schemeClr val="bg1"/>
                </a:solidFill>
              </a:rPr>
              <a:t> bridges the gap between advanced AI models and practical image manipulation, making segmentation accessible to everyone.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CE173D-81E3-3C37-CDDC-C2F43461671E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79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C476-6F24-F496-DCBB-4957B66A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0B1D78-7BD5-FB68-29ED-C3711FF7E9BB}"/>
              </a:ext>
            </a:extLst>
          </p:cNvPr>
          <p:cNvSpPr txBox="1"/>
          <p:nvPr/>
        </p:nvSpPr>
        <p:spPr>
          <a:xfrm>
            <a:off x="4572000" y="3036277"/>
            <a:ext cx="6377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CDAE4-5043-56C3-9C63-83768ED294AF}"/>
              </a:ext>
            </a:extLst>
          </p:cNvPr>
          <p:cNvSpPr/>
          <p:nvPr/>
        </p:nvSpPr>
        <p:spPr>
          <a:xfrm>
            <a:off x="12684369" y="7608277"/>
            <a:ext cx="1852246" cy="621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1919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780</Words>
  <Application>Microsoft Office PowerPoint</Application>
  <PresentationFormat>Custom</PresentationFormat>
  <Paragraphs>114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Spline Sans Bold</vt:lpstr>
      <vt:lpstr>Californian FB</vt:lpstr>
      <vt:lpstr>Wingdings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Sighakolli Vaishnavi</cp:lastModifiedBy>
  <cp:revision>17</cp:revision>
  <dcterms:created xsi:type="dcterms:W3CDTF">2025-10-04T17:09:22Z</dcterms:created>
  <dcterms:modified xsi:type="dcterms:W3CDTF">2025-10-05T06:03:02Z</dcterms:modified>
</cp:coreProperties>
</file>