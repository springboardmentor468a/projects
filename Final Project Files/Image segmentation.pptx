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Norwester" charset="1" panose="00000506000000000000"/>
      <p:regular r:id="rId20"/>
    </p:embeddedFont>
    <p:embeddedFont>
      <p:font typeface="Canva Sans Bold" charset="1" panose="020B0803030501040103"/>
      <p:regular r:id="rId21"/>
    </p:embeddedFont>
    <p:embeddedFont>
      <p:font typeface="Helvetica World" charset="1" panose="020B0500040000020004"/>
      <p:regular r:id="rId22"/>
    </p:embeddedFont>
    <p:embeddedFont>
      <p:font typeface="Helvetica World Bold" charset="1" panose="020B0800040000020004"/>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9.png" Type="http://schemas.openxmlformats.org/officeDocument/2006/relationships/image"/><Relationship Id="rId6" Target="../media/image10.png" Type="http://schemas.openxmlformats.org/officeDocument/2006/relationships/image"/><Relationship Id="rId7" Target="../media/image1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9.png" Type="http://schemas.openxmlformats.org/officeDocument/2006/relationships/image"/><Relationship Id="rId6" Target="../media/image12.png" Type="http://schemas.openxmlformats.org/officeDocument/2006/relationships/image"/><Relationship Id="rId7" Target="../media/image1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9.png" Type="http://schemas.openxmlformats.org/officeDocument/2006/relationships/image"/><Relationship Id="rId6" Target="../media/image1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9.png" Type="http://schemas.openxmlformats.org/officeDocument/2006/relationships/image"/><Relationship Id="rId6" Target="../media/image1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9.png" Type="http://schemas.openxmlformats.org/officeDocument/2006/relationships/image"/><Relationship Id="rId6" Target="../media/image1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17.png" Type="http://schemas.openxmlformats.org/officeDocument/2006/relationships/image"/><Relationship Id="rId4" Target="../media/image18.png" Type="http://schemas.openxmlformats.org/officeDocument/2006/relationships/image"/><Relationship Id="rId5" Target="../media/image19.png" Type="http://schemas.openxmlformats.org/officeDocument/2006/relationships/image"/><Relationship Id="rId6" Target="../media/image2.png" Type="http://schemas.openxmlformats.org/officeDocument/2006/relationships/image"/><Relationship Id="rId7" Target="../media/image3.svg" Type="http://schemas.openxmlformats.org/officeDocument/2006/relationships/image"/><Relationship Id="rId8" Target="../media/image9.png" Type="http://schemas.openxmlformats.org/officeDocument/2006/relationships/image"/><Relationship Id="rId9" Target="../media/image2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9.png" Type="http://schemas.openxmlformats.org/officeDocument/2006/relationships/image"/><Relationship Id="rId6" Target="../media/image2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9.png" Type="http://schemas.openxmlformats.org/officeDocument/2006/relationships/image"/><Relationship Id="rId4" Target="../media/image22.jpeg" Type="http://schemas.openxmlformats.org/officeDocument/2006/relationships/image"/><Relationship Id="rId5" Target="../media/VAG07YfsFYw.mp4" Type="http://schemas.openxmlformats.org/officeDocument/2006/relationships/video"/><Relationship Id="rId6" Target="../media/VAG07YfsFYw.mp4" Type="http://schemas.microsoft.com/office/2007/relationships/media"/></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 Id="rId9" Target="../media/image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sp>
        <p:nvSpPr>
          <p:cNvPr name="Freeform 3" id="3"/>
          <p:cNvSpPr/>
          <p:nvPr/>
        </p:nvSpPr>
        <p:spPr>
          <a:xfrm flipH="false" flipV="false" rot="-5400000">
            <a:off x="-358858" y="4907320"/>
            <a:ext cx="3247475" cy="472360"/>
          </a:xfrm>
          <a:custGeom>
            <a:avLst/>
            <a:gdLst/>
            <a:ahLst/>
            <a:cxnLst/>
            <a:rect r="r" b="b" t="t" l="l"/>
            <a:pathLst>
              <a:path h="472360" w="3247475">
                <a:moveTo>
                  <a:pt x="0" y="0"/>
                </a:moveTo>
                <a:lnTo>
                  <a:pt x="3247476" y="0"/>
                </a:lnTo>
                <a:lnTo>
                  <a:pt x="3247476" y="472360"/>
                </a:lnTo>
                <a:lnTo>
                  <a:pt x="0" y="4723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5400000">
            <a:off x="15399382" y="4907320"/>
            <a:ext cx="3247475" cy="472360"/>
          </a:xfrm>
          <a:custGeom>
            <a:avLst/>
            <a:gdLst/>
            <a:ahLst/>
            <a:cxnLst/>
            <a:rect r="r" b="b" t="t" l="l"/>
            <a:pathLst>
              <a:path h="472360" w="3247475">
                <a:moveTo>
                  <a:pt x="0" y="472360"/>
                </a:moveTo>
                <a:lnTo>
                  <a:pt x="3247476" y="472360"/>
                </a:lnTo>
                <a:lnTo>
                  <a:pt x="3247476" y="0"/>
                </a:lnTo>
                <a:lnTo>
                  <a:pt x="0" y="0"/>
                </a:lnTo>
                <a:lnTo>
                  <a:pt x="0" y="47236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028700" y="9053909"/>
            <a:ext cx="263267" cy="204391"/>
          </a:xfrm>
          <a:custGeom>
            <a:avLst/>
            <a:gdLst/>
            <a:ahLst/>
            <a:cxnLst/>
            <a:rect r="r" b="b" t="t" l="l"/>
            <a:pathLst>
              <a:path h="204391" w="263267">
                <a:moveTo>
                  <a:pt x="0" y="0"/>
                </a:moveTo>
                <a:lnTo>
                  <a:pt x="263267" y="0"/>
                </a:lnTo>
                <a:lnTo>
                  <a:pt x="263267" y="204391"/>
                </a:lnTo>
                <a:lnTo>
                  <a:pt x="0" y="20439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0">
            <a:off x="16996033" y="9053909"/>
            <a:ext cx="263267" cy="204391"/>
          </a:xfrm>
          <a:custGeom>
            <a:avLst/>
            <a:gdLst/>
            <a:ahLst/>
            <a:cxnLst/>
            <a:rect r="r" b="b" t="t" l="l"/>
            <a:pathLst>
              <a:path h="204391" w="263267">
                <a:moveTo>
                  <a:pt x="263267" y="0"/>
                </a:moveTo>
                <a:lnTo>
                  <a:pt x="0" y="0"/>
                </a:lnTo>
                <a:lnTo>
                  <a:pt x="0" y="204391"/>
                </a:lnTo>
                <a:lnTo>
                  <a:pt x="263267" y="204391"/>
                </a:lnTo>
                <a:lnTo>
                  <a:pt x="263267"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028700" y="1028700"/>
            <a:ext cx="1337383" cy="1157444"/>
          </a:xfrm>
          <a:custGeom>
            <a:avLst/>
            <a:gdLst/>
            <a:ahLst/>
            <a:cxnLst/>
            <a:rect r="r" b="b" t="t" l="l"/>
            <a:pathLst>
              <a:path h="1157444" w="1337383">
                <a:moveTo>
                  <a:pt x="0" y="0"/>
                </a:moveTo>
                <a:lnTo>
                  <a:pt x="1337383" y="0"/>
                </a:lnTo>
                <a:lnTo>
                  <a:pt x="1337383" y="1157444"/>
                </a:lnTo>
                <a:lnTo>
                  <a:pt x="0" y="115744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8" id="8"/>
          <p:cNvSpPr txBox="true"/>
          <p:nvPr/>
        </p:nvSpPr>
        <p:spPr>
          <a:xfrm rot="0">
            <a:off x="724806" y="2023992"/>
            <a:ext cx="16271226" cy="3119508"/>
          </a:xfrm>
          <a:prstGeom prst="rect">
            <a:avLst/>
          </a:prstGeom>
        </p:spPr>
        <p:txBody>
          <a:bodyPr anchor="t" rtlCol="false" tIns="0" lIns="0" bIns="0" rIns="0">
            <a:spAutoFit/>
          </a:bodyPr>
          <a:lstStyle/>
          <a:p>
            <a:pPr algn="ctr">
              <a:lnSpc>
                <a:spcPts val="25156"/>
              </a:lnSpc>
            </a:pPr>
            <a:r>
              <a:rPr lang="en-US" sz="19057" spc="-933">
                <a:solidFill>
                  <a:srgbClr val="38B6FF"/>
                </a:solidFill>
                <a:latin typeface="Norwester"/>
                <a:ea typeface="Norwester"/>
                <a:cs typeface="Norwester"/>
                <a:sym typeface="Norwester"/>
              </a:rPr>
              <a:t>VISIONEXTRACT</a:t>
            </a:r>
          </a:p>
        </p:txBody>
      </p:sp>
      <p:sp>
        <p:nvSpPr>
          <p:cNvPr name="Freeform 9" id="9"/>
          <p:cNvSpPr/>
          <p:nvPr/>
        </p:nvSpPr>
        <p:spPr>
          <a:xfrm flipH="true" flipV="false" rot="0">
            <a:off x="15921917" y="1048018"/>
            <a:ext cx="1337383" cy="1157444"/>
          </a:xfrm>
          <a:custGeom>
            <a:avLst/>
            <a:gdLst/>
            <a:ahLst/>
            <a:cxnLst/>
            <a:rect r="r" b="b" t="t" l="l"/>
            <a:pathLst>
              <a:path h="1157444" w="1337383">
                <a:moveTo>
                  <a:pt x="1337383" y="0"/>
                </a:moveTo>
                <a:lnTo>
                  <a:pt x="0" y="0"/>
                </a:lnTo>
                <a:lnTo>
                  <a:pt x="0" y="1157444"/>
                </a:lnTo>
                <a:lnTo>
                  <a:pt x="1337383" y="1157444"/>
                </a:lnTo>
                <a:lnTo>
                  <a:pt x="1337383"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0" id="10"/>
          <p:cNvSpPr txBox="true"/>
          <p:nvPr/>
        </p:nvSpPr>
        <p:spPr>
          <a:xfrm rot="0">
            <a:off x="0" y="5430936"/>
            <a:ext cx="18288000" cy="3195319"/>
          </a:xfrm>
          <a:prstGeom prst="rect">
            <a:avLst/>
          </a:prstGeom>
        </p:spPr>
        <p:txBody>
          <a:bodyPr anchor="t" rtlCol="false" tIns="0" lIns="0" bIns="0" rIns="0">
            <a:spAutoFit/>
          </a:bodyPr>
          <a:lstStyle/>
          <a:p>
            <a:pPr algn="ctr">
              <a:lnSpc>
                <a:spcPts val="12880"/>
              </a:lnSpc>
            </a:pPr>
            <a:r>
              <a:rPr lang="en-US" sz="9200" b="true">
                <a:solidFill>
                  <a:srgbClr val="38B6FF"/>
                </a:solidFill>
                <a:latin typeface="Canva Sans Bold"/>
                <a:ea typeface="Canva Sans Bold"/>
                <a:cs typeface="Canva Sans Bold"/>
                <a:sym typeface="Canva Sans Bold"/>
              </a:rPr>
              <a:t>Isolation from Images using Image Segmentation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sp>
        <p:nvSpPr>
          <p:cNvPr name="Freeform 3" id="3"/>
          <p:cNvSpPr/>
          <p:nvPr/>
        </p:nvSpPr>
        <p:spPr>
          <a:xfrm flipH="false" flipV="true" rot="0">
            <a:off x="14011825" y="276745"/>
            <a:ext cx="3247475" cy="472360"/>
          </a:xfrm>
          <a:custGeom>
            <a:avLst/>
            <a:gdLst/>
            <a:ahLst/>
            <a:cxnLst/>
            <a:rect r="r" b="b" t="t" l="l"/>
            <a:pathLst>
              <a:path h="472360" w="3247475">
                <a:moveTo>
                  <a:pt x="0" y="472360"/>
                </a:moveTo>
                <a:lnTo>
                  <a:pt x="3247475" y="472360"/>
                </a:lnTo>
                <a:lnTo>
                  <a:pt x="3247475" y="0"/>
                </a:lnTo>
                <a:lnTo>
                  <a:pt x="0" y="0"/>
                </a:lnTo>
                <a:lnTo>
                  <a:pt x="0" y="47236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0">
            <a:off x="8317705" y="276745"/>
            <a:ext cx="3247475" cy="472360"/>
          </a:xfrm>
          <a:custGeom>
            <a:avLst/>
            <a:gdLst/>
            <a:ahLst/>
            <a:cxnLst/>
            <a:rect r="r" b="b" t="t" l="l"/>
            <a:pathLst>
              <a:path h="472360" w="3247475">
                <a:moveTo>
                  <a:pt x="0" y="472360"/>
                </a:moveTo>
                <a:lnTo>
                  <a:pt x="3247475" y="472360"/>
                </a:lnTo>
                <a:lnTo>
                  <a:pt x="3247475" y="0"/>
                </a:lnTo>
                <a:lnTo>
                  <a:pt x="0" y="0"/>
                </a:lnTo>
                <a:lnTo>
                  <a:pt x="0" y="47236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564862" y="512925"/>
            <a:ext cx="2261028" cy="1282367"/>
          </a:xfrm>
          <a:custGeom>
            <a:avLst/>
            <a:gdLst/>
            <a:ahLst/>
            <a:cxnLst/>
            <a:rect r="r" b="b" t="t" l="l"/>
            <a:pathLst>
              <a:path h="1282367" w="2261028">
                <a:moveTo>
                  <a:pt x="0" y="0"/>
                </a:moveTo>
                <a:lnTo>
                  <a:pt x="2261028" y="0"/>
                </a:lnTo>
                <a:lnTo>
                  <a:pt x="2261028" y="1282368"/>
                </a:lnTo>
                <a:lnTo>
                  <a:pt x="0" y="1282368"/>
                </a:lnTo>
                <a:lnTo>
                  <a:pt x="0" y="0"/>
                </a:lnTo>
                <a:close/>
              </a:path>
            </a:pathLst>
          </a:custGeom>
          <a:blipFill>
            <a:blip r:embed="rId5"/>
            <a:stretch>
              <a:fillRect l="0" t="-5507" r="0" b="-5507"/>
            </a:stretch>
          </a:blipFill>
        </p:spPr>
      </p:sp>
      <p:sp>
        <p:nvSpPr>
          <p:cNvPr name="Freeform 6" id="6"/>
          <p:cNvSpPr/>
          <p:nvPr/>
        </p:nvSpPr>
        <p:spPr>
          <a:xfrm flipH="false" flipV="false" rot="0">
            <a:off x="0" y="3270732"/>
            <a:ext cx="7075138" cy="5231457"/>
          </a:xfrm>
          <a:custGeom>
            <a:avLst/>
            <a:gdLst/>
            <a:ahLst/>
            <a:cxnLst/>
            <a:rect r="r" b="b" t="t" l="l"/>
            <a:pathLst>
              <a:path h="5231457" w="7075138">
                <a:moveTo>
                  <a:pt x="0" y="0"/>
                </a:moveTo>
                <a:lnTo>
                  <a:pt x="7075138" y="0"/>
                </a:lnTo>
                <a:lnTo>
                  <a:pt x="7075138" y="5231457"/>
                </a:lnTo>
                <a:lnTo>
                  <a:pt x="0" y="5231457"/>
                </a:lnTo>
                <a:lnTo>
                  <a:pt x="0" y="0"/>
                </a:lnTo>
                <a:close/>
              </a:path>
            </a:pathLst>
          </a:custGeom>
          <a:blipFill>
            <a:blip r:embed="rId6"/>
            <a:stretch>
              <a:fillRect l="0" t="0" r="-2264" b="0"/>
            </a:stretch>
          </a:blipFill>
        </p:spPr>
      </p:sp>
      <p:sp>
        <p:nvSpPr>
          <p:cNvPr name="Freeform 7" id="7"/>
          <p:cNvSpPr/>
          <p:nvPr/>
        </p:nvSpPr>
        <p:spPr>
          <a:xfrm flipH="false" flipV="false" rot="0">
            <a:off x="7579791" y="2385311"/>
            <a:ext cx="10242791" cy="7421282"/>
          </a:xfrm>
          <a:custGeom>
            <a:avLst/>
            <a:gdLst/>
            <a:ahLst/>
            <a:cxnLst/>
            <a:rect r="r" b="b" t="t" l="l"/>
            <a:pathLst>
              <a:path h="7421282" w="10242791">
                <a:moveTo>
                  <a:pt x="0" y="0"/>
                </a:moveTo>
                <a:lnTo>
                  <a:pt x="10242791" y="0"/>
                </a:lnTo>
                <a:lnTo>
                  <a:pt x="10242791" y="7421281"/>
                </a:lnTo>
                <a:lnTo>
                  <a:pt x="0" y="7421281"/>
                </a:lnTo>
                <a:lnTo>
                  <a:pt x="0" y="0"/>
                </a:lnTo>
                <a:close/>
              </a:path>
            </a:pathLst>
          </a:custGeom>
          <a:blipFill>
            <a:blip r:embed="rId7"/>
            <a:stretch>
              <a:fillRect l="-4673" t="0" r="-4673" b="0"/>
            </a:stretch>
          </a:blipFill>
        </p:spPr>
      </p:sp>
      <p:sp>
        <p:nvSpPr>
          <p:cNvPr name="TextBox 8" id="8"/>
          <p:cNvSpPr txBox="true"/>
          <p:nvPr/>
        </p:nvSpPr>
        <p:spPr>
          <a:xfrm rot="0">
            <a:off x="7049393" y="923925"/>
            <a:ext cx="11238607" cy="1461386"/>
          </a:xfrm>
          <a:prstGeom prst="rect">
            <a:avLst/>
          </a:prstGeom>
        </p:spPr>
        <p:txBody>
          <a:bodyPr anchor="t" rtlCol="false" tIns="0" lIns="0" bIns="0" rIns="0">
            <a:spAutoFit/>
          </a:bodyPr>
          <a:lstStyle/>
          <a:p>
            <a:pPr algn="l">
              <a:lnSpc>
                <a:spcPts val="11762"/>
              </a:lnSpc>
            </a:pPr>
            <a:r>
              <a:rPr lang="en-US" sz="8910" spc="-436">
                <a:solidFill>
                  <a:srgbClr val="38B6FF"/>
                </a:solidFill>
                <a:latin typeface="Norwester"/>
                <a:ea typeface="Norwester"/>
                <a:cs typeface="Norwester"/>
                <a:sym typeface="Norwester"/>
              </a:rPr>
              <a:t>PROBLEM  STATEMENT</a:t>
            </a:r>
          </a:p>
        </p:txBody>
      </p:sp>
      <p:sp>
        <p:nvSpPr>
          <p:cNvPr name="TextBox 9" id="9"/>
          <p:cNvSpPr txBox="true"/>
          <p:nvPr/>
        </p:nvSpPr>
        <p:spPr>
          <a:xfrm rot="0">
            <a:off x="7579791" y="2318636"/>
            <a:ext cx="10242791" cy="7202170"/>
          </a:xfrm>
          <a:prstGeom prst="rect">
            <a:avLst/>
          </a:prstGeom>
        </p:spPr>
        <p:txBody>
          <a:bodyPr anchor="t" rtlCol="false" tIns="0" lIns="0" bIns="0" rIns="0">
            <a:spAutoFit/>
          </a:bodyPr>
          <a:lstStyle/>
          <a:p>
            <a:pPr algn="just">
              <a:lnSpc>
                <a:spcPts val="5179"/>
              </a:lnSpc>
            </a:pPr>
            <a:r>
              <a:rPr lang="en-US" sz="3699" b="true">
                <a:solidFill>
                  <a:srgbClr val="FF1FA9"/>
                </a:solidFill>
                <a:latin typeface="Canva Sans Bold"/>
                <a:ea typeface="Canva Sans Bold"/>
                <a:cs typeface="Canva Sans Bold"/>
                <a:sym typeface="Canva Sans Bold"/>
              </a:rPr>
              <a:t>The goal of this project is to build a machine learning model capable of automatically extracting the </a:t>
            </a:r>
            <a:r>
              <a:rPr lang="en-US" sz="3699" b="true">
                <a:solidFill>
                  <a:srgbClr val="FF1FA9"/>
                </a:solidFill>
                <a:latin typeface="Canva Sans Bold"/>
                <a:ea typeface="Canva Sans Bold"/>
                <a:cs typeface="Canva Sans Bold"/>
                <a:sym typeface="Canva Sans Bold"/>
              </a:rPr>
              <a:t>main subject from an image. For any given input picture, the model should output a new image in which only the subject is visible and everything else is rendered completely black. This subject isolation process can be used for automation in photography, digital art, augmented reality, virtual conferencing, and background replacement applications.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sp>
        <p:nvSpPr>
          <p:cNvPr name="Freeform 3" id="3"/>
          <p:cNvSpPr/>
          <p:nvPr/>
        </p:nvSpPr>
        <p:spPr>
          <a:xfrm flipH="false" flipV="true" rot="-5400000">
            <a:off x="15871742" y="8039317"/>
            <a:ext cx="3247475" cy="472360"/>
          </a:xfrm>
          <a:custGeom>
            <a:avLst/>
            <a:gdLst/>
            <a:ahLst/>
            <a:cxnLst/>
            <a:rect r="r" b="b" t="t" l="l"/>
            <a:pathLst>
              <a:path h="472360" w="3247475">
                <a:moveTo>
                  <a:pt x="0" y="472360"/>
                </a:moveTo>
                <a:lnTo>
                  <a:pt x="3247476" y="472360"/>
                </a:lnTo>
                <a:lnTo>
                  <a:pt x="3247476" y="0"/>
                </a:lnTo>
                <a:lnTo>
                  <a:pt x="0" y="0"/>
                </a:lnTo>
                <a:lnTo>
                  <a:pt x="0" y="47236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404628" y="387516"/>
            <a:ext cx="2261028" cy="1282367"/>
          </a:xfrm>
          <a:custGeom>
            <a:avLst/>
            <a:gdLst/>
            <a:ahLst/>
            <a:cxnLst/>
            <a:rect r="r" b="b" t="t" l="l"/>
            <a:pathLst>
              <a:path h="1282367" w="2261028">
                <a:moveTo>
                  <a:pt x="0" y="0"/>
                </a:moveTo>
                <a:lnTo>
                  <a:pt x="2261028" y="0"/>
                </a:lnTo>
                <a:lnTo>
                  <a:pt x="2261028" y="1282368"/>
                </a:lnTo>
                <a:lnTo>
                  <a:pt x="0" y="1282368"/>
                </a:lnTo>
                <a:lnTo>
                  <a:pt x="0" y="0"/>
                </a:lnTo>
                <a:close/>
              </a:path>
            </a:pathLst>
          </a:custGeom>
          <a:blipFill>
            <a:blip r:embed="rId5"/>
            <a:stretch>
              <a:fillRect l="0" t="-5507" r="0" b="-5507"/>
            </a:stretch>
          </a:blipFill>
        </p:spPr>
      </p:sp>
      <p:sp>
        <p:nvSpPr>
          <p:cNvPr name="Freeform 5" id="5"/>
          <p:cNvSpPr/>
          <p:nvPr/>
        </p:nvSpPr>
        <p:spPr>
          <a:xfrm flipH="false" flipV="false" rot="0">
            <a:off x="5792707" y="2144562"/>
            <a:ext cx="12210623" cy="7754673"/>
          </a:xfrm>
          <a:custGeom>
            <a:avLst/>
            <a:gdLst/>
            <a:ahLst/>
            <a:cxnLst/>
            <a:rect r="r" b="b" t="t" l="l"/>
            <a:pathLst>
              <a:path h="7754673" w="12210623">
                <a:moveTo>
                  <a:pt x="0" y="0"/>
                </a:moveTo>
                <a:lnTo>
                  <a:pt x="12210623" y="0"/>
                </a:lnTo>
                <a:lnTo>
                  <a:pt x="12210623" y="7754673"/>
                </a:lnTo>
                <a:lnTo>
                  <a:pt x="0" y="7754673"/>
                </a:lnTo>
                <a:lnTo>
                  <a:pt x="0" y="0"/>
                </a:lnTo>
                <a:close/>
              </a:path>
            </a:pathLst>
          </a:custGeom>
          <a:blipFill>
            <a:blip r:embed="rId6"/>
            <a:stretch>
              <a:fillRect l="-38705" t="-51823" r="0" b="-26450"/>
            </a:stretch>
          </a:blipFill>
        </p:spPr>
      </p:sp>
      <p:sp>
        <p:nvSpPr>
          <p:cNvPr name="TextBox 6" id="6"/>
          <p:cNvSpPr txBox="true"/>
          <p:nvPr/>
        </p:nvSpPr>
        <p:spPr>
          <a:xfrm rot="0">
            <a:off x="5440193" y="-152400"/>
            <a:ext cx="7407614" cy="1979295"/>
          </a:xfrm>
          <a:prstGeom prst="rect">
            <a:avLst/>
          </a:prstGeom>
        </p:spPr>
        <p:txBody>
          <a:bodyPr anchor="t" rtlCol="false" tIns="0" lIns="0" bIns="0" rIns="0">
            <a:spAutoFit/>
          </a:bodyPr>
          <a:lstStyle/>
          <a:p>
            <a:pPr algn="l">
              <a:lnSpc>
                <a:spcPts val="15840"/>
              </a:lnSpc>
            </a:pPr>
            <a:r>
              <a:rPr lang="en-US" sz="12000" spc="-588">
                <a:solidFill>
                  <a:srgbClr val="38B6FF"/>
                </a:solidFill>
                <a:latin typeface="Norwester"/>
                <a:ea typeface="Norwester"/>
                <a:cs typeface="Norwester"/>
                <a:sym typeface="Norwester"/>
              </a:rPr>
              <a:t>BACKGROUND</a:t>
            </a:r>
          </a:p>
        </p:txBody>
      </p:sp>
      <p:sp>
        <p:nvSpPr>
          <p:cNvPr name="TextBox 7" id="7"/>
          <p:cNvSpPr txBox="true"/>
          <p:nvPr/>
        </p:nvSpPr>
        <p:spPr>
          <a:xfrm rot="0">
            <a:off x="5989885" y="2147736"/>
            <a:ext cx="11505595" cy="8309610"/>
          </a:xfrm>
          <a:prstGeom prst="rect">
            <a:avLst/>
          </a:prstGeom>
        </p:spPr>
        <p:txBody>
          <a:bodyPr anchor="t" rtlCol="false" tIns="0" lIns="0" bIns="0" rIns="0">
            <a:spAutoFit/>
          </a:bodyPr>
          <a:lstStyle/>
          <a:p>
            <a:pPr algn="l" marL="755659" indent="-377829" lvl="1">
              <a:lnSpc>
                <a:spcPts val="4900"/>
              </a:lnSpc>
              <a:buFont typeface="Arial"/>
              <a:buChar char="•"/>
            </a:pPr>
            <a:r>
              <a:rPr lang="en-US" b="true" sz="3500">
                <a:solidFill>
                  <a:srgbClr val="000000"/>
                </a:solidFill>
                <a:latin typeface="Canva Sans Bold"/>
                <a:ea typeface="Canva Sans Bold"/>
                <a:cs typeface="Canva Sans Bold"/>
                <a:sym typeface="Canva Sans Bold"/>
              </a:rPr>
              <a:t>VisionExtract focuses on image segmentation for subject isolation.</a:t>
            </a:r>
          </a:p>
          <a:p>
            <a:pPr algn="l" marL="755659" indent="-377829" lvl="1">
              <a:lnSpc>
                <a:spcPts val="4900"/>
              </a:lnSpc>
              <a:buFont typeface="Arial"/>
              <a:buChar char="•"/>
            </a:pPr>
            <a:r>
              <a:rPr lang="en-US" b="true" sz="3500">
                <a:solidFill>
                  <a:srgbClr val="000000"/>
                </a:solidFill>
                <a:latin typeface="Canva Sans Bold"/>
                <a:ea typeface="Canva Sans Bold"/>
                <a:cs typeface="Canva Sans Bold"/>
                <a:sym typeface="Canva Sans Bold"/>
              </a:rPr>
              <a:t>Manual background removal is time-consuming and inefficient.</a:t>
            </a:r>
          </a:p>
          <a:p>
            <a:pPr algn="l" marL="755659" indent="-377829" lvl="1">
              <a:lnSpc>
                <a:spcPts val="4900"/>
              </a:lnSpc>
              <a:buFont typeface="Arial"/>
              <a:buChar char="•"/>
            </a:pPr>
            <a:r>
              <a:rPr lang="en-US" b="true" sz="3500">
                <a:solidFill>
                  <a:srgbClr val="000000"/>
                </a:solidFill>
                <a:latin typeface="Canva Sans Bold"/>
                <a:ea typeface="Canva Sans Bold"/>
                <a:cs typeface="Canva Sans Bold"/>
                <a:sym typeface="Canva Sans Bold"/>
              </a:rPr>
              <a:t>Automated extraction is crucial in photography, AR/VR, digital art, and video conferencing.</a:t>
            </a:r>
          </a:p>
          <a:p>
            <a:pPr algn="l" marL="755659" indent="-377829" lvl="1">
              <a:lnSpc>
                <a:spcPts val="4900"/>
              </a:lnSpc>
              <a:buFont typeface="Arial"/>
              <a:buChar char="•"/>
            </a:pPr>
            <a:r>
              <a:rPr lang="en-US" b="true" sz="3500">
                <a:solidFill>
                  <a:srgbClr val="000000"/>
                </a:solidFill>
                <a:latin typeface="Canva Sans Bold"/>
                <a:ea typeface="Canva Sans Bold"/>
                <a:cs typeface="Canva Sans Bold"/>
                <a:sym typeface="Canva Sans Bold"/>
              </a:rPr>
              <a:t>The project aims to build a model that outputs an image with only the subject visible, background blacked out.</a:t>
            </a:r>
          </a:p>
          <a:p>
            <a:pPr algn="l" marL="755659" indent="-377829" lvl="1">
              <a:lnSpc>
                <a:spcPts val="4900"/>
              </a:lnSpc>
              <a:buFont typeface="Arial"/>
              <a:buChar char="•"/>
            </a:pPr>
            <a:r>
              <a:rPr lang="en-US" b="true" sz="3500">
                <a:solidFill>
                  <a:srgbClr val="000000"/>
                </a:solidFill>
                <a:latin typeface="Canva Sans Bold"/>
                <a:ea typeface="Canva Sans Bold"/>
                <a:cs typeface="Canva Sans Bold"/>
                <a:sym typeface="Canva Sans Bold"/>
              </a:rPr>
              <a:t>Impact: Enables faster editing workflows, supports creative industries, and enhances real-time applications.</a:t>
            </a:r>
          </a:p>
          <a:p>
            <a:pPr algn="ctr">
              <a:lnSpc>
                <a:spcPts val="7279"/>
              </a:lnSpc>
            </a:pPr>
          </a:p>
        </p:txBody>
      </p:sp>
      <p:sp>
        <p:nvSpPr>
          <p:cNvPr name="Freeform 8" id="8"/>
          <p:cNvSpPr/>
          <p:nvPr/>
        </p:nvSpPr>
        <p:spPr>
          <a:xfrm flipH="false" flipV="false" rot="0">
            <a:off x="-373931" y="2914720"/>
            <a:ext cx="6079173" cy="5360777"/>
          </a:xfrm>
          <a:custGeom>
            <a:avLst/>
            <a:gdLst/>
            <a:ahLst/>
            <a:cxnLst/>
            <a:rect r="r" b="b" t="t" l="l"/>
            <a:pathLst>
              <a:path h="5360777" w="6079173">
                <a:moveTo>
                  <a:pt x="0" y="0"/>
                </a:moveTo>
                <a:lnTo>
                  <a:pt x="6079174" y="0"/>
                </a:lnTo>
                <a:lnTo>
                  <a:pt x="6079174" y="5360777"/>
                </a:lnTo>
                <a:lnTo>
                  <a:pt x="0" y="5360777"/>
                </a:lnTo>
                <a:lnTo>
                  <a:pt x="0" y="0"/>
                </a:lnTo>
                <a:close/>
              </a:path>
            </a:pathLst>
          </a:custGeom>
          <a:blipFill>
            <a:blip r:embed="rId7"/>
            <a:stretch>
              <a:fillRect l="-33737" t="0" r="-25750" b="0"/>
            </a:stretch>
          </a:blipFill>
        </p:spPr>
      </p:sp>
      <p:sp>
        <p:nvSpPr>
          <p:cNvPr name="Freeform 9" id="9"/>
          <p:cNvSpPr/>
          <p:nvPr/>
        </p:nvSpPr>
        <p:spPr>
          <a:xfrm flipH="false" flipV="true" rot="0">
            <a:off x="13060621" y="387516"/>
            <a:ext cx="3247475" cy="472360"/>
          </a:xfrm>
          <a:custGeom>
            <a:avLst/>
            <a:gdLst/>
            <a:ahLst/>
            <a:cxnLst/>
            <a:rect r="r" b="b" t="t" l="l"/>
            <a:pathLst>
              <a:path h="472360" w="3247475">
                <a:moveTo>
                  <a:pt x="0" y="472360"/>
                </a:moveTo>
                <a:lnTo>
                  <a:pt x="3247475" y="472360"/>
                </a:lnTo>
                <a:lnTo>
                  <a:pt x="3247475" y="0"/>
                </a:lnTo>
                <a:lnTo>
                  <a:pt x="0" y="0"/>
                </a:lnTo>
                <a:lnTo>
                  <a:pt x="0" y="47236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true" rot="0">
            <a:off x="1041918" y="9258300"/>
            <a:ext cx="3247475" cy="472360"/>
          </a:xfrm>
          <a:custGeom>
            <a:avLst/>
            <a:gdLst/>
            <a:ahLst/>
            <a:cxnLst/>
            <a:rect r="r" b="b" t="t" l="l"/>
            <a:pathLst>
              <a:path h="472360" w="3247475">
                <a:moveTo>
                  <a:pt x="0" y="472360"/>
                </a:moveTo>
                <a:lnTo>
                  <a:pt x="3247475" y="472360"/>
                </a:lnTo>
                <a:lnTo>
                  <a:pt x="3247475" y="0"/>
                </a:lnTo>
                <a:lnTo>
                  <a:pt x="0" y="0"/>
                </a:lnTo>
                <a:lnTo>
                  <a:pt x="0" y="47236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sp>
        <p:nvSpPr>
          <p:cNvPr name="TextBox 3" id="3"/>
          <p:cNvSpPr txBox="true"/>
          <p:nvPr/>
        </p:nvSpPr>
        <p:spPr>
          <a:xfrm rot="0">
            <a:off x="5942980" y="-37148"/>
            <a:ext cx="6402040" cy="1979295"/>
          </a:xfrm>
          <a:prstGeom prst="rect">
            <a:avLst/>
          </a:prstGeom>
        </p:spPr>
        <p:txBody>
          <a:bodyPr anchor="t" rtlCol="false" tIns="0" lIns="0" bIns="0" rIns="0">
            <a:spAutoFit/>
          </a:bodyPr>
          <a:lstStyle/>
          <a:p>
            <a:pPr algn="l">
              <a:lnSpc>
                <a:spcPts val="15840"/>
              </a:lnSpc>
            </a:pPr>
            <a:r>
              <a:rPr lang="en-US" sz="12000" spc="-588">
                <a:solidFill>
                  <a:srgbClr val="38B6FF"/>
                </a:solidFill>
                <a:latin typeface="Norwester"/>
                <a:ea typeface="Norwester"/>
                <a:cs typeface="Norwester"/>
                <a:sym typeface="Norwester"/>
              </a:rPr>
              <a:t>OBJECTIVE</a:t>
            </a:r>
          </a:p>
        </p:txBody>
      </p:sp>
      <p:sp>
        <p:nvSpPr>
          <p:cNvPr name="TextBox 4" id="4"/>
          <p:cNvSpPr txBox="true"/>
          <p:nvPr/>
        </p:nvSpPr>
        <p:spPr>
          <a:xfrm rot="0">
            <a:off x="340535" y="3192144"/>
            <a:ext cx="3993607" cy="7196456"/>
          </a:xfrm>
          <a:prstGeom prst="rect">
            <a:avLst/>
          </a:prstGeom>
        </p:spPr>
        <p:txBody>
          <a:bodyPr anchor="t" rtlCol="false" tIns="0" lIns="0" bIns="0" rIns="0">
            <a:spAutoFit/>
          </a:bodyPr>
          <a:lstStyle/>
          <a:p>
            <a:pPr algn="l" marL="798817" indent="-399408" lvl="1">
              <a:lnSpc>
                <a:spcPts val="4809"/>
              </a:lnSpc>
              <a:buFont typeface="Arial"/>
              <a:buChar char="•"/>
            </a:pPr>
            <a:r>
              <a:rPr lang="en-US" sz="3699" spc="-110">
                <a:solidFill>
                  <a:srgbClr val="FFFFFF"/>
                </a:solidFill>
                <a:latin typeface="Helvetica World"/>
                <a:ea typeface="Helvetica World"/>
                <a:cs typeface="Helvetica World"/>
                <a:sym typeface="Helvetica World"/>
              </a:rPr>
              <a:t>Develop a deep learning model for subject isolation using image segmentation.</a:t>
            </a:r>
          </a:p>
          <a:p>
            <a:pPr algn="l" marL="798817" indent="-399408" lvl="1">
              <a:lnSpc>
                <a:spcPts val="4809"/>
              </a:lnSpc>
              <a:buFont typeface="Arial"/>
              <a:buChar char="•"/>
            </a:pPr>
            <a:r>
              <a:rPr lang="en-US" sz="3699" spc="-110">
                <a:solidFill>
                  <a:srgbClr val="FFFFFF"/>
                </a:solidFill>
                <a:latin typeface="Helvetica World"/>
                <a:ea typeface="Helvetica World"/>
                <a:cs typeface="Helvetica World"/>
                <a:sym typeface="Helvetica World"/>
              </a:rPr>
              <a:t>Implement data preprocessing to align images and masks accurately</a:t>
            </a:r>
          </a:p>
          <a:p>
            <a:pPr algn="l">
              <a:lnSpc>
                <a:spcPts val="3899"/>
              </a:lnSpc>
            </a:pPr>
          </a:p>
        </p:txBody>
      </p:sp>
      <p:sp>
        <p:nvSpPr>
          <p:cNvPr name="TextBox 5" id="5"/>
          <p:cNvSpPr txBox="true"/>
          <p:nvPr/>
        </p:nvSpPr>
        <p:spPr>
          <a:xfrm rot="0">
            <a:off x="829717" y="2479585"/>
            <a:ext cx="3382718" cy="522732"/>
          </a:xfrm>
          <a:prstGeom prst="rect">
            <a:avLst/>
          </a:prstGeom>
        </p:spPr>
        <p:txBody>
          <a:bodyPr anchor="t" rtlCol="false" tIns="0" lIns="0" bIns="0" rIns="0">
            <a:spAutoFit/>
          </a:bodyPr>
          <a:lstStyle/>
          <a:p>
            <a:pPr algn="l">
              <a:lnSpc>
                <a:spcPts val="4224"/>
              </a:lnSpc>
            </a:pPr>
            <a:r>
              <a:rPr lang="en-US" sz="3200" spc="-156">
                <a:solidFill>
                  <a:srgbClr val="38B6FF"/>
                </a:solidFill>
                <a:latin typeface="Norwester"/>
                <a:ea typeface="Norwester"/>
                <a:cs typeface="Norwester"/>
                <a:sym typeface="Norwester"/>
              </a:rPr>
              <a:t>OBJECTIVE 01</a:t>
            </a:r>
          </a:p>
        </p:txBody>
      </p:sp>
      <p:sp>
        <p:nvSpPr>
          <p:cNvPr name="TextBox 6" id="6"/>
          <p:cNvSpPr txBox="true"/>
          <p:nvPr/>
        </p:nvSpPr>
        <p:spPr>
          <a:xfrm rot="0">
            <a:off x="4334141" y="3192144"/>
            <a:ext cx="4447399" cy="6697346"/>
          </a:xfrm>
          <a:prstGeom prst="rect">
            <a:avLst/>
          </a:prstGeom>
        </p:spPr>
        <p:txBody>
          <a:bodyPr anchor="t" rtlCol="false" tIns="0" lIns="0" bIns="0" rIns="0">
            <a:spAutoFit/>
          </a:bodyPr>
          <a:lstStyle/>
          <a:p>
            <a:pPr algn="l" marL="863585" indent="-431792" lvl="1">
              <a:lnSpc>
                <a:spcPts val="5199"/>
              </a:lnSpc>
              <a:buFont typeface="Arial"/>
              <a:buChar char="•"/>
            </a:pPr>
            <a:r>
              <a:rPr lang="en-US" sz="3999" spc="-119">
                <a:solidFill>
                  <a:srgbClr val="FFFFFF"/>
                </a:solidFill>
                <a:latin typeface="Helvetica World"/>
                <a:ea typeface="Helvetica World"/>
                <a:cs typeface="Helvetica World"/>
                <a:sym typeface="Helvetica World"/>
              </a:rPr>
              <a:t>Train and fine-tune the model for high accuracy (IoU, Dice coefficient).</a:t>
            </a:r>
          </a:p>
          <a:p>
            <a:pPr algn="l" marL="863585" indent="-431792" lvl="1">
              <a:lnSpc>
                <a:spcPts val="5199"/>
              </a:lnSpc>
              <a:buFont typeface="Arial"/>
              <a:buChar char="•"/>
            </a:pPr>
            <a:r>
              <a:rPr lang="en-US" sz="3999" spc="-119">
                <a:solidFill>
                  <a:srgbClr val="FFFFFF"/>
                </a:solidFill>
                <a:latin typeface="Helvetica World"/>
                <a:ea typeface="Helvetica World"/>
                <a:cs typeface="Helvetica World"/>
                <a:sym typeface="Helvetica World"/>
              </a:rPr>
              <a:t>Generate binary masks to separate subject vs. background</a:t>
            </a:r>
          </a:p>
          <a:p>
            <a:pPr algn="l">
              <a:lnSpc>
                <a:spcPts val="6239"/>
              </a:lnSpc>
            </a:pPr>
          </a:p>
        </p:txBody>
      </p:sp>
      <p:sp>
        <p:nvSpPr>
          <p:cNvPr name="TextBox 7" id="7"/>
          <p:cNvSpPr txBox="true"/>
          <p:nvPr/>
        </p:nvSpPr>
        <p:spPr>
          <a:xfrm rot="0">
            <a:off x="5751336" y="2479585"/>
            <a:ext cx="2004709" cy="522732"/>
          </a:xfrm>
          <a:prstGeom prst="rect">
            <a:avLst/>
          </a:prstGeom>
        </p:spPr>
        <p:txBody>
          <a:bodyPr anchor="t" rtlCol="false" tIns="0" lIns="0" bIns="0" rIns="0">
            <a:spAutoFit/>
          </a:bodyPr>
          <a:lstStyle/>
          <a:p>
            <a:pPr algn="l">
              <a:lnSpc>
                <a:spcPts val="4224"/>
              </a:lnSpc>
            </a:pPr>
            <a:r>
              <a:rPr lang="en-US" sz="3200" spc="-156">
                <a:solidFill>
                  <a:srgbClr val="38B6FF"/>
                </a:solidFill>
                <a:latin typeface="Norwester"/>
                <a:ea typeface="Norwester"/>
                <a:cs typeface="Norwester"/>
                <a:sym typeface="Norwester"/>
              </a:rPr>
              <a:t>OBJECTIVE 02</a:t>
            </a:r>
          </a:p>
        </p:txBody>
      </p:sp>
      <p:sp>
        <p:nvSpPr>
          <p:cNvPr name="TextBox 8" id="8"/>
          <p:cNvSpPr txBox="true"/>
          <p:nvPr/>
        </p:nvSpPr>
        <p:spPr>
          <a:xfrm rot="0">
            <a:off x="8781541" y="3192144"/>
            <a:ext cx="4292079" cy="7434581"/>
          </a:xfrm>
          <a:prstGeom prst="rect">
            <a:avLst/>
          </a:prstGeom>
        </p:spPr>
        <p:txBody>
          <a:bodyPr anchor="t" rtlCol="false" tIns="0" lIns="0" bIns="0" rIns="0">
            <a:spAutoFit/>
          </a:bodyPr>
          <a:lstStyle/>
          <a:p>
            <a:pPr algn="l" marL="885174" indent="-442587" lvl="1">
              <a:lnSpc>
                <a:spcPts val="5329"/>
              </a:lnSpc>
              <a:buFont typeface="Arial"/>
              <a:buChar char="•"/>
            </a:pPr>
            <a:r>
              <a:rPr lang="en-US" sz="4099" spc="-122">
                <a:solidFill>
                  <a:srgbClr val="FFFFFF"/>
                </a:solidFill>
                <a:latin typeface="Helvetica World"/>
                <a:ea typeface="Helvetica World"/>
                <a:cs typeface="Helvetica World"/>
                <a:sym typeface="Helvetica World"/>
              </a:rPr>
              <a:t>Visualize and compare original images, masks, and predictions.</a:t>
            </a:r>
          </a:p>
          <a:p>
            <a:pPr algn="l" marL="885174" indent="-442587" lvl="1">
              <a:lnSpc>
                <a:spcPts val="5329"/>
              </a:lnSpc>
              <a:buFont typeface="Arial"/>
              <a:buChar char="•"/>
            </a:pPr>
            <a:r>
              <a:rPr lang="en-US" sz="4099" spc="-122">
                <a:solidFill>
                  <a:srgbClr val="FFFFFF"/>
                </a:solidFill>
                <a:latin typeface="Helvetica World"/>
                <a:ea typeface="Helvetica World"/>
                <a:cs typeface="Helvetica World"/>
                <a:sym typeface="Helvetica World"/>
              </a:rPr>
              <a:t>Deploy a pipeline for real-time subject extraction on new images.</a:t>
            </a:r>
          </a:p>
          <a:p>
            <a:pPr algn="l">
              <a:lnSpc>
                <a:spcPts val="5329"/>
              </a:lnSpc>
            </a:pPr>
          </a:p>
        </p:txBody>
      </p:sp>
      <p:sp>
        <p:nvSpPr>
          <p:cNvPr name="TextBox 9" id="9"/>
          <p:cNvSpPr txBox="true"/>
          <p:nvPr/>
        </p:nvSpPr>
        <p:spPr>
          <a:xfrm rot="0">
            <a:off x="9978685" y="2479585"/>
            <a:ext cx="2004709" cy="522732"/>
          </a:xfrm>
          <a:prstGeom prst="rect">
            <a:avLst/>
          </a:prstGeom>
        </p:spPr>
        <p:txBody>
          <a:bodyPr anchor="t" rtlCol="false" tIns="0" lIns="0" bIns="0" rIns="0">
            <a:spAutoFit/>
          </a:bodyPr>
          <a:lstStyle/>
          <a:p>
            <a:pPr algn="l">
              <a:lnSpc>
                <a:spcPts val="4224"/>
              </a:lnSpc>
            </a:pPr>
            <a:r>
              <a:rPr lang="en-US" sz="3200" spc="-156">
                <a:solidFill>
                  <a:srgbClr val="38B6FF"/>
                </a:solidFill>
                <a:latin typeface="Norwester"/>
                <a:ea typeface="Norwester"/>
                <a:cs typeface="Norwester"/>
                <a:sym typeface="Norwester"/>
              </a:rPr>
              <a:t>OBJECTIVE 03</a:t>
            </a:r>
          </a:p>
        </p:txBody>
      </p:sp>
      <p:sp>
        <p:nvSpPr>
          <p:cNvPr name="TextBox 10" id="10"/>
          <p:cNvSpPr txBox="true"/>
          <p:nvPr/>
        </p:nvSpPr>
        <p:spPr>
          <a:xfrm rot="0">
            <a:off x="13490227" y="2926714"/>
            <a:ext cx="4438714" cy="7461886"/>
          </a:xfrm>
          <a:prstGeom prst="rect">
            <a:avLst/>
          </a:prstGeom>
        </p:spPr>
        <p:txBody>
          <a:bodyPr anchor="t" rtlCol="false" tIns="0" lIns="0" bIns="0" rIns="0">
            <a:spAutoFit/>
          </a:bodyPr>
          <a:lstStyle/>
          <a:p>
            <a:pPr algn="just" marL="885174" indent="-442587" lvl="1">
              <a:lnSpc>
                <a:spcPts val="5329"/>
              </a:lnSpc>
              <a:buFont typeface="Arial"/>
              <a:buChar char="•"/>
            </a:pPr>
            <a:r>
              <a:rPr lang="en-US" sz="4099" spc="-122">
                <a:solidFill>
                  <a:srgbClr val="FFFFFF"/>
                </a:solidFill>
                <a:latin typeface="Helvetica World"/>
                <a:ea typeface="Helvetica World"/>
                <a:cs typeface="Helvetica World"/>
                <a:sym typeface="Helvetica World"/>
              </a:rPr>
              <a:t>Evaluate performance using IoU, Dice, Precision, and Recall metrics.</a:t>
            </a:r>
          </a:p>
          <a:p>
            <a:pPr algn="just" marL="885174" indent="-442587" lvl="1">
              <a:lnSpc>
                <a:spcPts val="5329"/>
              </a:lnSpc>
              <a:buFont typeface="Arial"/>
              <a:buChar char="•"/>
            </a:pPr>
            <a:r>
              <a:rPr lang="en-US" sz="4099" spc="-122">
                <a:solidFill>
                  <a:srgbClr val="FFFFFF"/>
                </a:solidFill>
                <a:latin typeface="Helvetica World"/>
                <a:ea typeface="Helvetica World"/>
                <a:cs typeface="Helvetica World"/>
                <a:sym typeface="Helvetica World"/>
              </a:rPr>
              <a:t>Visualize input vs. ground truth vs. predicted masks for clarity.</a:t>
            </a:r>
          </a:p>
          <a:p>
            <a:pPr algn="just">
              <a:lnSpc>
                <a:spcPts val="5589"/>
              </a:lnSpc>
            </a:pPr>
          </a:p>
        </p:txBody>
      </p:sp>
      <p:sp>
        <p:nvSpPr>
          <p:cNvPr name="TextBox 11" id="11"/>
          <p:cNvSpPr txBox="true"/>
          <p:nvPr/>
        </p:nvSpPr>
        <p:spPr>
          <a:xfrm rot="0">
            <a:off x="14825101" y="2479585"/>
            <a:ext cx="2229036" cy="522732"/>
          </a:xfrm>
          <a:prstGeom prst="rect">
            <a:avLst/>
          </a:prstGeom>
        </p:spPr>
        <p:txBody>
          <a:bodyPr anchor="t" rtlCol="false" tIns="0" lIns="0" bIns="0" rIns="0">
            <a:spAutoFit/>
          </a:bodyPr>
          <a:lstStyle/>
          <a:p>
            <a:pPr algn="l">
              <a:lnSpc>
                <a:spcPts val="4224"/>
              </a:lnSpc>
            </a:pPr>
            <a:r>
              <a:rPr lang="en-US" sz="3200" spc="-156">
                <a:solidFill>
                  <a:srgbClr val="38B6FF"/>
                </a:solidFill>
                <a:latin typeface="Norwester"/>
                <a:ea typeface="Norwester"/>
                <a:cs typeface="Norwester"/>
                <a:sym typeface="Norwester"/>
              </a:rPr>
              <a:t>OBJECTIVE 04</a:t>
            </a:r>
          </a:p>
        </p:txBody>
      </p:sp>
      <p:sp>
        <p:nvSpPr>
          <p:cNvPr name="Freeform 12" id="12"/>
          <p:cNvSpPr/>
          <p:nvPr/>
        </p:nvSpPr>
        <p:spPr>
          <a:xfrm flipH="false" flipV="false" rot="0">
            <a:off x="340535" y="387516"/>
            <a:ext cx="2261028" cy="1282367"/>
          </a:xfrm>
          <a:custGeom>
            <a:avLst/>
            <a:gdLst/>
            <a:ahLst/>
            <a:cxnLst/>
            <a:rect r="r" b="b" t="t" l="l"/>
            <a:pathLst>
              <a:path h="1282367" w="2261028">
                <a:moveTo>
                  <a:pt x="0" y="0"/>
                </a:moveTo>
                <a:lnTo>
                  <a:pt x="2261027" y="0"/>
                </a:lnTo>
                <a:lnTo>
                  <a:pt x="2261027" y="1282368"/>
                </a:lnTo>
                <a:lnTo>
                  <a:pt x="0" y="1282368"/>
                </a:lnTo>
                <a:lnTo>
                  <a:pt x="0" y="0"/>
                </a:lnTo>
                <a:close/>
              </a:path>
            </a:pathLst>
          </a:custGeom>
          <a:blipFill>
            <a:blip r:embed="rId3"/>
            <a:stretch>
              <a:fillRect l="0" t="-5507" r="0" b="-5507"/>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sp>
        <p:nvSpPr>
          <p:cNvPr name="Freeform 3" id="3"/>
          <p:cNvSpPr/>
          <p:nvPr/>
        </p:nvSpPr>
        <p:spPr>
          <a:xfrm flipH="false" flipV="true" rot="0">
            <a:off x="13685405" y="9483845"/>
            <a:ext cx="3247475" cy="472360"/>
          </a:xfrm>
          <a:custGeom>
            <a:avLst/>
            <a:gdLst/>
            <a:ahLst/>
            <a:cxnLst/>
            <a:rect r="r" b="b" t="t" l="l"/>
            <a:pathLst>
              <a:path h="472360" w="3247475">
                <a:moveTo>
                  <a:pt x="0" y="472360"/>
                </a:moveTo>
                <a:lnTo>
                  <a:pt x="3247475" y="472360"/>
                </a:lnTo>
                <a:lnTo>
                  <a:pt x="3247475" y="0"/>
                </a:lnTo>
                <a:lnTo>
                  <a:pt x="0" y="0"/>
                </a:lnTo>
                <a:lnTo>
                  <a:pt x="0" y="47236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404628" y="387516"/>
            <a:ext cx="2261028" cy="1282367"/>
          </a:xfrm>
          <a:custGeom>
            <a:avLst/>
            <a:gdLst/>
            <a:ahLst/>
            <a:cxnLst/>
            <a:rect r="r" b="b" t="t" l="l"/>
            <a:pathLst>
              <a:path h="1282367" w="2261028">
                <a:moveTo>
                  <a:pt x="0" y="0"/>
                </a:moveTo>
                <a:lnTo>
                  <a:pt x="2261028" y="0"/>
                </a:lnTo>
                <a:lnTo>
                  <a:pt x="2261028" y="1282368"/>
                </a:lnTo>
                <a:lnTo>
                  <a:pt x="0" y="1282368"/>
                </a:lnTo>
                <a:lnTo>
                  <a:pt x="0" y="0"/>
                </a:lnTo>
                <a:close/>
              </a:path>
            </a:pathLst>
          </a:custGeom>
          <a:blipFill>
            <a:blip r:embed="rId5"/>
            <a:stretch>
              <a:fillRect l="0" t="-5507" r="0" b="-5507"/>
            </a:stretch>
          </a:blipFill>
        </p:spPr>
      </p:sp>
      <p:sp>
        <p:nvSpPr>
          <p:cNvPr name="Freeform 5" id="5"/>
          <p:cNvSpPr/>
          <p:nvPr/>
        </p:nvSpPr>
        <p:spPr>
          <a:xfrm flipH="false" flipV="false" rot="0">
            <a:off x="3836670" y="588493"/>
            <a:ext cx="8344658" cy="9131532"/>
          </a:xfrm>
          <a:custGeom>
            <a:avLst/>
            <a:gdLst/>
            <a:ahLst/>
            <a:cxnLst/>
            <a:rect r="r" b="b" t="t" l="l"/>
            <a:pathLst>
              <a:path h="9131532" w="8344658">
                <a:moveTo>
                  <a:pt x="0" y="0"/>
                </a:moveTo>
                <a:lnTo>
                  <a:pt x="8344658" y="0"/>
                </a:lnTo>
                <a:lnTo>
                  <a:pt x="8344658" y="9131532"/>
                </a:lnTo>
                <a:lnTo>
                  <a:pt x="0" y="9131532"/>
                </a:lnTo>
                <a:lnTo>
                  <a:pt x="0" y="0"/>
                </a:lnTo>
                <a:close/>
              </a:path>
            </a:pathLst>
          </a:custGeom>
          <a:blipFill>
            <a:blip r:embed="rId6"/>
            <a:stretch>
              <a:fillRect l="-9071" t="-347" r="-738" b="0"/>
            </a:stretch>
          </a:blipFill>
        </p:spPr>
      </p:sp>
      <p:sp>
        <p:nvSpPr>
          <p:cNvPr name="TextBox 6" id="6"/>
          <p:cNvSpPr txBox="true"/>
          <p:nvPr/>
        </p:nvSpPr>
        <p:spPr>
          <a:xfrm rot="-5400000">
            <a:off x="-1898796" y="3524511"/>
            <a:ext cx="7481862" cy="3989070"/>
          </a:xfrm>
          <a:prstGeom prst="rect">
            <a:avLst/>
          </a:prstGeom>
        </p:spPr>
        <p:txBody>
          <a:bodyPr anchor="t" rtlCol="false" tIns="0" lIns="0" bIns="0" rIns="0">
            <a:spAutoFit/>
          </a:bodyPr>
          <a:lstStyle/>
          <a:p>
            <a:pPr algn="l">
              <a:lnSpc>
                <a:spcPts val="15840"/>
              </a:lnSpc>
            </a:pPr>
            <a:r>
              <a:rPr lang="en-US" sz="12000" spc="-588">
                <a:solidFill>
                  <a:srgbClr val="38B6FF"/>
                </a:solidFill>
                <a:latin typeface="Norwester"/>
                <a:ea typeface="Norwester"/>
                <a:cs typeface="Norwester"/>
                <a:sym typeface="Norwester"/>
              </a:rPr>
              <a:t>EXISTING SOLUTIONS</a:t>
            </a:r>
          </a:p>
        </p:txBody>
      </p:sp>
      <p:sp>
        <p:nvSpPr>
          <p:cNvPr name="TextBox 7" id="7"/>
          <p:cNvSpPr txBox="true"/>
          <p:nvPr/>
        </p:nvSpPr>
        <p:spPr>
          <a:xfrm rot="0">
            <a:off x="12405655" y="1537690"/>
            <a:ext cx="5465541" cy="2701291"/>
          </a:xfrm>
          <a:prstGeom prst="rect">
            <a:avLst/>
          </a:prstGeom>
        </p:spPr>
        <p:txBody>
          <a:bodyPr anchor="t" rtlCol="false" tIns="0" lIns="0" bIns="0" rIns="0">
            <a:spAutoFit/>
          </a:bodyPr>
          <a:lstStyle/>
          <a:p>
            <a:pPr algn="l">
              <a:lnSpc>
                <a:spcPts val="4289"/>
              </a:lnSpc>
            </a:pPr>
            <a:r>
              <a:rPr lang="en-US" sz="3299" spc="-98">
                <a:solidFill>
                  <a:srgbClr val="FFFFFF"/>
                </a:solidFill>
                <a:latin typeface="Helvetica World"/>
                <a:ea typeface="Helvetica World"/>
                <a:cs typeface="Helvetica World"/>
                <a:sym typeface="Helvetica World"/>
              </a:rPr>
              <a:t>Manual Background Removal</a:t>
            </a:r>
          </a:p>
          <a:p>
            <a:pPr algn="l" marL="712459" indent="-356229" lvl="1">
              <a:lnSpc>
                <a:spcPts val="4289"/>
              </a:lnSpc>
              <a:buFont typeface="Arial"/>
              <a:buChar char="•"/>
            </a:pPr>
            <a:r>
              <a:rPr lang="en-US" sz="3299" spc="-98">
                <a:solidFill>
                  <a:srgbClr val="FFFFFF"/>
                </a:solidFill>
                <a:latin typeface="Helvetica World"/>
                <a:ea typeface="Helvetica World"/>
                <a:cs typeface="Helvetica World"/>
                <a:sym typeface="Helvetica World"/>
              </a:rPr>
              <a:t>Tools like Photoshop, Canva, and online background removers.</a:t>
            </a:r>
          </a:p>
          <a:p>
            <a:pPr algn="l">
              <a:lnSpc>
                <a:spcPts val="4289"/>
              </a:lnSpc>
            </a:pPr>
          </a:p>
        </p:txBody>
      </p:sp>
      <p:sp>
        <p:nvSpPr>
          <p:cNvPr name="TextBox 8" id="8"/>
          <p:cNvSpPr txBox="true"/>
          <p:nvPr/>
        </p:nvSpPr>
        <p:spPr>
          <a:xfrm rot="0">
            <a:off x="12405655" y="919708"/>
            <a:ext cx="2004709" cy="522732"/>
          </a:xfrm>
          <a:prstGeom prst="rect">
            <a:avLst/>
          </a:prstGeom>
        </p:spPr>
        <p:txBody>
          <a:bodyPr anchor="t" rtlCol="false" tIns="0" lIns="0" bIns="0" rIns="0">
            <a:spAutoFit/>
          </a:bodyPr>
          <a:lstStyle/>
          <a:p>
            <a:pPr algn="l">
              <a:lnSpc>
                <a:spcPts val="4224"/>
              </a:lnSpc>
            </a:pPr>
            <a:r>
              <a:rPr lang="en-US" sz="3200" spc="-156">
                <a:solidFill>
                  <a:srgbClr val="38B6FF"/>
                </a:solidFill>
                <a:latin typeface="Norwester"/>
                <a:ea typeface="Norwester"/>
                <a:cs typeface="Norwester"/>
                <a:sym typeface="Norwester"/>
              </a:rPr>
              <a:t>SOLUTION 01</a:t>
            </a:r>
          </a:p>
        </p:txBody>
      </p:sp>
      <p:sp>
        <p:nvSpPr>
          <p:cNvPr name="TextBox 9" id="9"/>
          <p:cNvSpPr txBox="true"/>
          <p:nvPr/>
        </p:nvSpPr>
        <p:spPr>
          <a:xfrm rot="0">
            <a:off x="12521928" y="4391381"/>
            <a:ext cx="5465541" cy="2789555"/>
          </a:xfrm>
          <a:prstGeom prst="rect">
            <a:avLst/>
          </a:prstGeom>
        </p:spPr>
        <p:txBody>
          <a:bodyPr anchor="t" rtlCol="false" tIns="0" lIns="0" bIns="0" rIns="0">
            <a:spAutoFit/>
          </a:bodyPr>
          <a:lstStyle/>
          <a:p>
            <a:pPr algn="l">
              <a:lnSpc>
                <a:spcPts val="4029"/>
              </a:lnSpc>
            </a:pPr>
            <a:r>
              <a:rPr lang="en-US" sz="3099" spc="-92">
                <a:solidFill>
                  <a:srgbClr val="FFFFFF"/>
                </a:solidFill>
                <a:latin typeface="Helvetica World"/>
                <a:ea typeface="Helvetica World"/>
                <a:cs typeface="Helvetica World"/>
                <a:sym typeface="Helvetica World"/>
              </a:rPr>
              <a:t>Classical Computer Vision Techniques</a:t>
            </a:r>
          </a:p>
          <a:p>
            <a:pPr algn="l" marL="669280" indent="-334640" lvl="1">
              <a:lnSpc>
                <a:spcPts val="4029"/>
              </a:lnSpc>
              <a:buFont typeface="Arial"/>
              <a:buChar char="•"/>
            </a:pPr>
            <a:r>
              <a:rPr lang="en-US" sz="3099" spc="-92">
                <a:solidFill>
                  <a:srgbClr val="FFFFFF"/>
                </a:solidFill>
                <a:latin typeface="Helvetica World"/>
                <a:ea typeface="Helvetica World"/>
                <a:cs typeface="Helvetica World"/>
                <a:sym typeface="Helvetica World"/>
              </a:rPr>
              <a:t>Thresholding, Edge Detection, GrabCut, Watershed.</a:t>
            </a:r>
          </a:p>
          <a:p>
            <a:pPr algn="l">
              <a:lnSpc>
                <a:spcPts val="2079"/>
              </a:lnSpc>
            </a:pPr>
          </a:p>
        </p:txBody>
      </p:sp>
      <p:sp>
        <p:nvSpPr>
          <p:cNvPr name="TextBox 10" id="10"/>
          <p:cNvSpPr txBox="true"/>
          <p:nvPr/>
        </p:nvSpPr>
        <p:spPr>
          <a:xfrm rot="0">
            <a:off x="12521928" y="3785626"/>
            <a:ext cx="2004709" cy="522732"/>
          </a:xfrm>
          <a:prstGeom prst="rect">
            <a:avLst/>
          </a:prstGeom>
        </p:spPr>
        <p:txBody>
          <a:bodyPr anchor="t" rtlCol="false" tIns="0" lIns="0" bIns="0" rIns="0">
            <a:spAutoFit/>
          </a:bodyPr>
          <a:lstStyle/>
          <a:p>
            <a:pPr algn="l">
              <a:lnSpc>
                <a:spcPts val="4224"/>
              </a:lnSpc>
            </a:pPr>
            <a:r>
              <a:rPr lang="en-US" sz="3200" spc="-156">
                <a:solidFill>
                  <a:srgbClr val="38B6FF"/>
                </a:solidFill>
                <a:latin typeface="Norwester"/>
                <a:ea typeface="Norwester"/>
                <a:cs typeface="Norwester"/>
                <a:sym typeface="Norwester"/>
              </a:rPr>
              <a:t>SOLUTION 02</a:t>
            </a:r>
          </a:p>
        </p:txBody>
      </p:sp>
      <p:sp>
        <p:nvSpPr>
          <p:cNvPr name="TextBox 11" id="11"/>
          <p:cNvSpPr txBox="true"/>
          <p:nvPr/>
        </p:nvSpPr>
        <p:spPr>
          <a:xfrm rot="0">
            <a:off x="12630815" y="7823280"/>
            <a:ext cx="5356653" cy="1896746"/>
          </a:xfrm>
          <a:prstGeom prst="rect">
            <a:avLst/>
          </a:prstGeom>
        </p:spPr>
        <p:txBody>
          <a:bodyPr anchor="t" rtlCol="false" tIns="0" lIns="0" bIns="0" rIns="0">
            <a:spAutoFit/>
          </a:bodyPr>
          <a:lstStyle/>
          <a:p>
            <a:pPr algn="l">
              <a:lnSpc>
                <a:spcPts val="3769"/>
              </a:lnSpc>
            </a:pPr>
            <a:r>
              <a:rPr lang="en-US" sz="2899" spc="-86">
                <a:solidFill>
                  <a:srgbClr val="FFFFFF"/>
                </a:solidFill>
                <a:latin typeface="Helvetica World"/>
                <a:ea typeface="Helvetica World"/>
                <a:cs typeface="Helvetica World"/>
                <a:sym typeface="Helvetica World"/>
              </a:rPr>
              <a:t>Pre-trained Segmentation Models</a:t>
            </a:r>
          </a:p>
          <a:p>
            <a:pPr algn="l" marL="626101" indent="-313050" lvl="1">
              <a:lnSpc>
                <a:spcPts val="3769"/>
              </a:lnSpc>
              <a:buFont typeface="Arial"/>
              <a:buChar char="•"/>
            </a:pPr>
            <a:r>
              <a:rPr lang="en-US" sz="2899" spc="-86">
                <a:solidFill>
                  <a:srgbClr val="FFFFFF"/>
                </a:solidFill>
                <a:latin typeface="Helvetica World"/>
                <a:ea typeface="Helvetica World"/>
                <a:cs typeface="Helvetica World"/>
                <a:sym typeface="Helvetica World"/>
              </a:rPr>
              <a:t>Models like Mask R-CNN, U-Net, DeepLab.</a:t>
            </a:r>
          </a:p>
          <a:p>
            <a:pPr algn="l">
              <a:lnSpc>
                <a:spcPts val="3769"/>
              </a:lnSpc>
            </a:pPr>
          </a:p>
        </p:txBody>
      </p:sp>
      <p:sp>
        <p:nvSpPr>
          <p:cNvPr name="TextBox 12" id="12"/>
          <p:cNvSpPr txBox="true"/>
          <p:nvPr/>
        </p:nvSpPr>
        <p:spPr>
          <a:xfrm rot="0">
            <a:off x="12630815" y="7142836"/>
            <a:ext cx="2004709" cy="522732"/>
          </a:xfrm>
          <a:prstGeom prst="rect">
            <a:avLst/>
          </a:prstGeom>
        </p:spPr>
        <p:txBody>
          <a:bodyPr anchor="t" rtlCol="false" tIns="0" lIns="0" bIns="0" rIns="0">
            <a:spAutoFit/>
          </a:bodyPr>
          <a:lstStyle/>
          <a:p>
            <a:pPr algn="l">
              <a:lnSpc>
                <a:spcPts val="4224"/>
              </a:lnSpc>
            </a:pPr>
            <a:r>
              <a:rPr lang="en-US" sz="3200" spc="-156">
                <a:solidFill>
                  <a:srgbClr val="38B6FF"/>
                </a:solidFill>
                <a:latin typeface="Norwester"/>
                <a:ea typeface="Norwester"/>
                <a:cs typeface="Norwester"/>
                <a:sym typeface="Norwester"/>
              </a:rPr>
              <a:t>SOLUTION 03</a:t>
            </a:r>
          </a:p>
        </p:txBody>
      </p:sp>
      <p:sp>
        <p:nvSpPr>
          <p:cNvPr name="Freeform 13" id="13"/>
          <p:cNvSpPr/>
          <p:nvPr/>
        </p:nvSpPr>
        <p:spPr>
          <a:xfrm flipH="false" flipV="true" rot="0">
            <a:off x="13408009" y="0"/>
            <a:ext cx="3247475" cy="472360"/>
          </a:xfrm>
          <a:custGeom>
            <a:avLst/>
            <a:gdLst/>
            <a:ahLst/>
            <a:cxnLst/>
            <a:rect r="r" b="b" t="t" l="l"/>
            <a:pathLst>
              <a:path h="472360" w="3247475">
                <a:moveTo>
                  <a:pt x="0" y="472360"/>
                </a:moveTo>
                <a:lnTo>
                  <a:pt x="3247475" y="472360"/>
                </a:lnTo>
                <a:lnTo>
                  <a:pt x="3247475" y="0"/>
                </a:lnTo>
                <a:lnTo>
                  <a:pt x="0" y="0"/>
                </a:lnTo>
                <a:lnTo>
                  <a:pt x="0" y="47236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sp>
        <p:nvSpPr>
          <p:cNvPr name="Freeform 3" id="3"/>
          <p:cNvSpPr/>
          <p:nvPr/>
        </p:nvSpPr>
        <p:spPr>
          <a:xfrm flipH="false" flipV="true" rot="0">
            <a:off x="15040525" y="151336"/>
            <a:ext cx="3247475" cy="472360"/>
          </a:xfrm>
          <a:custGeom>
            <a:avLst/>
            <a:gdLst/>
            <a:ahLst/>
            <a:cxnLst/>
            <a:rect r="r" b="b" t="t" l="l"/>
            <a:pathLst>
              <a:path h="472360" w="3247475">
                <a:moveTo>
                  <a:pt x="0" y="472360"/>
                </a:moveTo>
                <a:lnTo>
                  <a:pt x="3247475" y="472360"/>
                </a:lnTo>
                <a:lnTo>
                  <a:pt x="3247475" y="0"/>
                </a:lnTo>
                <a:lnTo>
                  <a:pt x="0" y="0"/>
                </a:lnTo>
                <a:lnTo>
                  <a:pt x="0" y="47236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404628" y="387516"/>
            <a:ext cx="2261028" cy="1282367"/>
          </a:xfrm>
          <a:custGeom>
            <a:avLst/>
            <a:gdLst/>
            <a:ahLst/>
            <a:cxnLst/>
            <a:rect r="r" b="b" t="t" l="l"/>
            <a:pathLst>
              <a:path h="1282367" w="2261028">
                <a:moveTo>
                  <a:pt x="0" y="0"/>
                </a:moveTo>
                <a:lnTo>
                  <a:pt x="2261028" y="0"/>
                </a:lnTo>
                <a:lnTo>
                  <a:pt x="2261028" y="1282368"/>
                </a:lnTo>
                <a:lnTo>
                  <a:pt x="0" y="1282368"/>
                </a:lnTo>
                <a:lnTo>
                  <a:pt x="0" y="0"/>
                </a:lnTo>
                <a:close/>
              </a:path>
            </a:pathLst>
          </a:custGeom>
          <a:blipFill>
            <a:blip r:embed="rId5"/>
            <a:stretch>
              <a:fillRect l="0" t="-5507" r="0" b="-5507"/>
            </a:stretch>
          </a:blipFill>
        </p:spPr>
      </p:sp>
      <p:sp>
        <p:nvSpPr>
          <p:cNvPr name="Freeform 5" id="5"/>
          <p:cNvSpPr/>
          <p:nvPr/>
        </p:nvSpPr>
        <p:spPr>
          <a:xfrm flipH="false" flipV="true" rot="5461841">
            <a:off x="15900912" y="7394397"/>
            <a:ext cx="3247475" cy="472360"/>
          </a:xfrm>
          <a:custGeom>
            <a:avLst/>
            <a:gdLst/>
            <a:ahLst/>
            <a:cxnLst/>
            <a:rect r="r" b="b" t="t" l="l"/>
            <a:pathLst>
              <a:path h="472360" w="3247475">
                <a:moveTo>
                  <a:pt x="0" y="472360"/>
                </a:moveTo>
                <a:lnTo>
                  <a:pt x="3247475" y="472360"/>
                </a:lnTo>
                <a:lnTo>
                  <a:pt x="3247475" y="0"/>
                </a:lnTo>
                <a:lnTo>
                  <a:pt x="0" y="0"/>
                </a:lnTo>
                <a:lnTo>
                  <a:pt x="0" y="47236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true" rot="0">
            <a:off x="14555952" y="9746063"/>
            <a:ext cx="3247475" cy="472360"/>
          </a:xfrm>
          <a:custGeom>
            <a:avLst/>
            <a:gdLst/>
            <a:ahLst/>
            <a:cxnLst/>
            <a:rect r="r" b="b" t="t" l="l"/>
            <a:pathLst>
              <a:path h="472360" w="3247475">
                <a:moveTo>
                  <a:pt x="0" y="472360"/>
                </a:moveTo>
                <a:lnTo>
                  <a:pt x="3247475" y="472360"/>
                </a:lnTo>
                <a:lnTo>
                  <a:pt x="3247475" y="0"/>
                </a:lnTo>
                <a:lnTo>
                  <a:pt x="0" y="0"/>
                </a:lnTo>
                <a:lnTo>
                  <a:pt x="0" y="47236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654606" y="3738790"/>
            <a:ext cx="2942321" cy="5401799"/>
          </a:xfrm>
          <a:custGeom>
            <a:avLst/>
            <a:gdLst/>
            <a:ahLst/>
            <a:cxnLst/>
            <a:rect r="r" b="b" t="t" l="l"/>
            <a:pathLst>
              <a:path h="5401799" w="2942321">
                <a:moveTo>
                  <a:pt x="0" y="0"/>
                </a:moveTo>
                <a:lnTo>
                  <a:pt x="2942321" y="0"/>
                </a:lnTo>
                <a:lnTo>
                  <a:pt x="2942321" y="5401799"/>
                </a:lnTo>
                <a:lnTo>
                  <a:pt x="0" y="5401799"/>
                </a:lnTo>
                <a:lnTo>
                  <a:pt x="0" y="0"/>
                </a:lnTo>
                <a:close/>
              </a:path>
            </a:pathLst>
          </a:custGeom>
          <a:blipFill>
            <a:blip r:embed="rId6"/>
            <a:stretch>
              <a:fillRect l="0" t="0" r="0" b="0"/>
            </a:stretch>
          </a:blipFill>
        </p:spPr>
      </p:sp>
      <p:sp>
        <p:nvSpPr>
          <p:cNvPr name="Freeform 8" id="8"/>
          <p:cNvSpPr/>
          <p:nvPr/>
        </p:nvSpPr>
        <p:spPr>
          <a:xfrm flipH="false" flipV="false" rot="0">
            <a:off x="4236000" y="3738790"/>
            <a:ext cx="2942321" cy="5401799"/>
          </a:xfrm>
          <a:custGeom>
            <a:avLst/>
            <a:gdLst/>
            <a:ahLst/>
            <a:cxnLst/>
            <a:rect r="r" b="b" t="t" l="l"/>
            <a:pathLst>
              <a:path h="5401799" w="2942321">
                <a:moveTo>
                  <a:pt x="0" y="0"/>
                </a:moveTo>
                <a:lnTo>
                  <a:pt x="2942321" y="0"/>
                </a:lnTo>
                <a:lnTo>
                  <a:pt x="2942321" y="5401799"/>
                </a:lnTo>
                <a:lnTo>
                  <a:pt x="0" y="5401799"/>
                </a:lnTo>
                <a:lnTo>
                  <a:pt x="0" y="0"/>
                </a:lnTo>
                <a:close/>
              </a:path>
            </a:pathLst>
          </a:custGeom>
          <a:blipFill>
            <a:blip r:embed="rId6"/>
            <a:stretch>
              <a:fillRect l="0" t="0" r="0" b="0"/>
            </a:stretch>
          </a:blipFill>
        </p:spPr>
      </p:sp>
      <p:sp>
        <p:nvSpPr>
          <p:cNvPr name="Freeform 9" id="9"/>
          <p:cNvSpPr/>
          <p:nvPr/>
        </p:nvSpPr>
        <p:spPr>
          <a:xfrm flipH="false" flipV="false" rot="0">
            <a:off x="7672840" y="3738790"/>
            <a:ext cx="2942321" cy="5401799"/>
          </a:xfrm>
          <a:custGeom>
            <a:avLst/>
            <a:gdLst/>
            <a:ahLst/>
            <a:cxnLst/>
            <a:rect r="r" b="b" t="t" l="l"/>
            <a:pathLst>
              <a:path h="5401799" w="2942321">
                <a:moveTo>
                  <a:pt x="0" y="0"/>
                </a:moveTo>
                <a:lnTo>
                  <a:pt x="2942320" y="0"/>
                </a:lnTo>
                <a:lnTo>
                  <a:pt x="2942320" y="5401799"/>
                </a:lnTo>
                <a:lnTo>
                  <a:pt x="0" y="5401799"/>
                </a:lnTo>
                <a:lnTo>
                  <a:pt x="0" y="0"/>
                </a:lnTo>
                <a:close/>
              </a:path>
            </a:pathLst>
          </a:custGeom>
          <a:blipFill>
            <a:blip r:embed="rId6"/>
            <a:stretch>
              <a:fillRect l="0" t="0" r="0" b="0"/>
            </a:stretch>
          </a:blipFill>
        </p:spPr>
      </p:sp>
      <p:sp>
        <p:nvSpPr>
          <p:cNvPr name="Freeform 10" id="10"/>
          <p:cNvSpPr/>
          <p:nvPr/>
        </p:nvSpPr>
        <p:spPr>
          <a:xfrm flipH="false" flipV="false" rot="0">
            <a:off x="11253335" y="3738790"/>
            <a:ext cx="2942321" cy="5401799"/>
          </a:xfrm>
          <a:custGeom>
            <a:avLst/>
            <a:gdLst/>
            <a:ahLst/>
            <a:cxnLst/>
            <a:rect r="r" b="b" t="t" l="l"/>
            <a:pathLst>
              <a:path h="5401799" w="2942321">
                <a:moveTo>
                  <a:pt x="0" y="0"/>
                </a:moveTo>
                <a:lnTo>
                  <a:pt x="2942321" y="0"/>
                </a:lnTo>
                <a:lnTo>
                  <a:pt x="2942321" y="5401799"/>
                </a:lnTo>
                <a:lnTo>
                  <a:pt x="0" y="5401799"/>
                </a:lnTo>
                <a:lnTo>
                  <a:pt x="0" y="0"/>
                </a:lnTo>
                <a:close/>
              </a:path>
            </a:pathLst>
          </a:custGeom>
          <a:blipFill>
            <a:blip r:embed="rId6"/>
            <a:stretch>
              <a:fillRect l="0" t="0" r="0" b="0"/>
            </a:stretch>
          </a:blipFill>
        </p:spPr>
      </p:sp>
      <p:sp>
        <p:nvSpPr>
          <p:cNvPr name="TextBox 11" id="11"/>
          <p:cNvSpPr txBox="true"/>
          <p:nvPr/>
        </p:nvSpPr>
        <p:spPr>
          <a:xfrm rot="0">
            <a:off x="3372040" y="235116"/>
            <a:ext cx="13887260" cy="2065403"/>
          </a:xfrm>
          <a:prstGeom prst="rect">
            <a:avLst/>
          </a:prstGeom>
        </p:spPr>
        <p:txBody>
          <a:bodyPr anchor="t" rtlCol="false" tIns="0" lIns="0" bIns="0" rIns="0">
            <a:spAutoFit/>
          </a:bodyPr>
          <a:lstStyle/>
          <a:p>
            <a:pPr algn="l">
              <a:lnSpc>
                <a:spcPts val="16631"/>
              </a:lnSpc>
            </a:pPr>
            <a:r>
              <a:rPr lang="en-US" sz="12599" spc="-617">
                <a:solidFill>
                  <a:srgbClr val="38B6FF"/>
                </a:solidFill>
                <a:latin typeface="Norwester"/>
                <a:ea typeface="Norwester"/>
                <a:cs typeface="Norwester"/>
                <a:sym typeface="Norwester"/>
              </a:rPr>
              <a:t>PROPOSED SOLUTION</a:t>
            </a:r>
          </a:p>
        </p:txBody>
      </p:sp>
      <p:sp>
        <p:nvSpPr>
          <p:cNvPr name="TextBox 12" id="12"/>
          <p:cNvSpPr txBox="true"/>
          <p:nvPr/>
        </p:nvSpPr>
        <p:spPr>
          <a:xfrm rot="0">
            <a:off x="404628" y="2382430"/>
            <a:ext cx="3831372" cy="584835"/>
          </a:xfrm>
          <a:prstGeom prst="rect">
            <a:avLst/>
          </a:prstGeom>
        </p:spPr>
        <p:txBody>
          <a:bodyPr anchor="t" rtlCol="false" tIns="0" lIns="0" bIns="0" rIns="0">
            <a:spAutoFit/>
          </a:bodyPr>
          <a:lstStyle/>
          <a:p>
            <a:pPr algn="l">
              <a:lnSpc>
                <a:spcPts val="4619"/>
              </a:lnSpc>
            </a:pPr>
            <a:r>
              <a:rPr lang="en-US" sz="3499" spc="-171">
                <a:solidFill>
                  <a:srgbClr val="38B6FF"/>
                </a:solidFill>
                <a:latin typeface="Norwester"/>
                <a:ea typeface="Norwester"/>
                <a:cs typeface="Norwester"/>
                <a:sym typeface="Norwester"/>
              </a:rPr>
              <a:t>DATASET PREPARATION</a:t>
            </a:r>
          </a:p>
        </p:txBody>
      </p:sp>
      <p:sp>
        <p:nvSpPr>
          <p:cNvPr name="TextBox 13" id="13"/>
          <p:cNvSpPr txBox="true"/>
          <p:nvPr/>
        </p:nvSpPr>
        <p:spPr>
          <a:xfrm rot="0">
            <a:off x="4661090" y="2382430"/>
            <a:ext cx="2576810" cy="662940"/>
          </a:xfrm>
          <a:prstGeom prst="rect">
            <a:avLst/>
          </a:prstGeom>
        </p:spPr>
        <p:txBody>
          <a:bodyPr anchor="t" rtlCol="false" tIns="0" lIns="0" bIns="0" rIns="0">
            <a:spAutoFit/>
          </a:bodyPr>
          <a:lstStyle/>
          <a:p>
            <a:pPr algn="ctr">
              <a:lnSpc>
                <a:spcPts val="5279"/>
              </a:lnSpc>
              <a:spcBef>
                <a:spcPct val="0"/>
              </a:spcBef>
            </a:pPr>
            <a:r>
              <a:rPr lang="en-US" sz="3999" spc="-195">
                <a:solidFill>
                  <a:srgbClr val="FFFFFF"/>
                </a:solidFill>
                <a:latin typeface="Norwester"/>
                <a:ea typeface="Norwester"/>
                <a:cs typeface="Norwester"/>
                <a:sym typeface="Norwester"/>
              </a:rPr>
              <a:t>MODEL DESIGN</a:t>
            </a:r>
          </a:p>
        </p:txBody>
      </p:sp>
      <p:sp>
        <p:nvSpPr>
          <p:cNvPr name="TextBox 14" id="14"/>
          <p:cNvSpPr txBox="true"/>
          <p:nvPr/>
        </p:nvSpPr>
        <p:spPr>
          <a:xfrm rot="0">
            <a:off x="8033457" y="2462059"/>
            <a:ext cx="2809081" cy="522732"/>
          </a:xfrm>
          <a:prstGeom prst="rect">
            <a:avLst/>
          </a:prstGeom>
        </p:spPr>
        <p:txBody>
          <a:bodyPr anchor="t" rtlCol="false" tIns="0" lIns="0" bIns="0" rIns="0">
            <a:spAutoFit/>
          </a:bodyPr>
          <a:lstStyle/>
          <a:p>
            <a:pPr algn="ctr">
              <a:lnSpc>
                <a:spcPts val="4224"/>
              </a:lnSpc>
              <a:spcBef>
                <a:spcPct val="0"/>
              </a:spcBef>
            </a:pPr>
            <a:r>
              <a:rPr lang="en-US" sz="3200" spc="-156">
                <a:solidFill>
                  <a:srgbClr val="FFFFFF"/>
                </a:solidFill>
                <a:latin typeface="Norwester"/>
                <a:ea typeface="Norwester"/>
                <a:cs typeface="Norwester"/>
                <a:sym typeface="Norwester"/>
              </a:rPr>
              <a:t>TRAINING STRATEGY</a:t>
            </a:r>
          </a:p>
        </p:txBody>
      </p:sp>
      <p:sp>
        <p:nvSpPr>
          <p:cNvPr name="TextBox 15" id="15"/>
          <p:cNvSpPr txBox="true"/>
          <p:nvPr/>
        </p:nvSpPr>
        <p:spPr>
          <a:xfrm rot="0">
            <a:off x="11638095" y="2462059"/>
            <a:ext cx="1701602" cy="522732"/>
          </a:xfrm>
          <a:prstGeom prst="rect">
            <a:avLst/>
          </a:prstGeom>
        </p:spPr>
        <p:txBody>
          <a:bodyPr anchor="t" rtlCol="false" tIns="0" lIns="0" bIns="0" rIns="0">
            <a:spAutoFit/>
          </a:bodyPr>
          <a:lstStyle/>
          <a:p>
            <a:pPr algn="ctr">
              <a:lnSpc>
                <a:spcPts val="4224"/>
              </a:lnSpc>
              <a:spcBef>
                <a:spcPct val="0"/>
              </a:spcBef>
            </a:pPr>
            <a:r>
              <a:rPr lang="en-US" sz="3200" spc="-156">
                <a:solidFill>
                  <a:srgbClr val="FFFFFF"/>
                </a:solidFill>
                <a:latin typeface="Norwester"/>
                <a:ea typeface="Norwester"/>
                <a:cs typeface="Norwester"/>
                <a:sym typeface="Norwester"/>
              </a:rPr>
              <a:t>EVALUATION</a:t>
            </a:r>
          </a:p>
        </p:txBody>
      </p:sp>
      <p:sp>
        <p:nvSpPr>
          <p:cNvPr name="TextBox 16" id="16"/>
          <p:cNvSpPr txBox="true"/>
          <p:nvPr/>
        </p:nvSpPr>
        <p:spPr>
          <a:xfrm rot="0">
            <a:off x="14139797" y="2423007"/>
            <a:ext cx="3197225" cy="522732"/>
          </a:xfrm>
          <a:prstGeom prst="rect">
            <a:avLst/>
          </a:prstGeom>
        </p:spPr>
        <p:txBody>
          <a:bodyPr anchor="t" rtlCol="false" tIns="0" lIns="0" bIns="0" rIns="0">
            <a:spAutoFit/>
          </a:bodyPr>
          <a:lstStyle/>
          <a:p>
            <a:pPr algn="ctr">
              <a:lnSpc>
                <a:spcPts val="4224"/>
              </a:lnSpc>
              <a:spcBef>
                <a:spcPct val="0"/>
              </a:spcBef>
            </a:pPr>
            <a:r>
              <a:rPr lang="en-US" sz="3200" spc="-156">
                <a:solidFill>
                  <a:srgbClr val="FFFFFF"/>
                </a:solidFill>
                <a:latin typeface="Norwester"/>
                <a:ea typeface="Norwester"/>
                <a:cs typeface="Norwester"/>
                <a:sym typeface="Norwester"/>
              </a:rPr>
              <a:t>DEPLOYMENT PIPELINE</a:t>
            </a:r>
          </a:p>
        </p:txBody>
      </p:sp>
      <p:sp>
        <p:nvSpPr>
          <p:cNvPr name="Freeform 17" id="17"/>
          <p:cNvSpPr/>
          <p:nvPr/>
        </p:nvSpPr>
        <p:spPr>
          <a:xfrm flipH="false" flipV="false" rot="0">
            <a:off x="14582329" y="3738790"/>
            <a:ext cx="3207670" cy="5401799"/>
          </a:xfrm>
          <a:custGeom>
            <a:avLst/>
            <a:gdLst/>
            <a:ahLst/>
            <a:cxnLst/>
            <a:rect r="r" b="b" t="t" l="l"/>
            <a:pathLst>
              <a:path h="5401799" w="3207670">
                <a:moveTo>
                  <a:pt x="0" y="0"/>
                </a:moveTo>
                <a:lnTo>
                  <a:pt x="3207670" y="0"/>
                </a:lnTo>
                <a:lnTo>
                  <a:pt x="3207670" y="5401799"/>
                </a:lnTo>
                <a:lnTo>
                  <a:pt x="0" y="5401799"/>
                </a:lnTo>
                <a:lnTo>
                  <a:pt x="0" y="0"/>
                </a:lnTo>
                <a:close/>
              </a:path>
            </a:pathLst>
          </a:custGeom>
          <a:blipFill>
            <a:blip r:embed="rId6"/>
            <a:stretch>
              <a:fillRect l="0" t="-4509" r="0" b="-4509"/>
            </a:stretch>
          </a:blipFill>
        </p:spPr>
      </p:sp>
      <p:sp>
        <p:nvSpPr>
          <p:cNvPr name="Freeform 18" id="18"/>
          <p:cNvSpPr/>
          <p:nvPr/>
        </p:nvSpPr>
        <p:spPr>
          <a:xfrm flipH="false" flipV="true" rot="0">
            <a:off x="124564" y="9509883"/>
            <a:ext cx="3247475" cy="472360"/>
          </a:xfrm>
          <a:custGeom>
            <a:avLst/>
            <a:gdLst/>
            <a:ahLst/>
            <a:cxnLst/>
            <a:rect r="r" b="b" t="t" l="l"/>
            <a:pathLst>
              <a:path h="472360" w="3247475">
                <a:moveTo>
                  <a:pt x="0" y="472360"/>
                </a:moveTo>
                <a:lnTo>
                  <a:pt x="3247476" y="472360"/>
                </a:lnTo>
                <a:lnTo>
                  <a:pt x="3247476" y="0"/>
                </a:lnTo>
                <a:lnTo>
                  <a:pt x="0" y="0"/>
                </a:lnTo>
                <a:lnTo>
                  <a:pt x="0" y="47236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9" id="19"/>
          <p:cNvSpPr txBox="true"/>
          <p:nvPr/>
        </p:nvSpPr>
        <p:spPr>
          <a:xfrm rot="0">
            <a:off x="0" y="3700690"/>
            <a:ext cx="3597825" cy="5666994"/>
          </a:xfrm>
          <a:prstGeom prst="rect">
            <a:avLst/>
          </a:prstGeom>
        </p:spPr>
        <p:txBody>
          <a:bodyPr anchor="t" rtlCol="false" tIns="0" lIns="0" bIns="0" rIns="0">
            <a:spAutoFit/>
          </a:bodyPr>
          <a:lstStyle/>
          <a:p>
            <a:pPr algn="l" marL="669291" indent="-334646" lvl="1">
              <a:lnSpc>
                <a:spcPts val="4092"/>
              </a:lnSpc>
              <a:buFont typeface="Arial"/>
              <a:buChar char="•"/>
            </a:pPr>
            <a:r>
              <a:rPr lang="en-US" sz="3100" spc="-151">
                <a:solidFill>
                  <a:srgbClr val="000000"/>
                </a:solidFill>
                <a:latin typeface="Norwester"/>
                <a:ea typeface="Norwester"/>
                <a:cs typeface="Norwester"/>
                <a:sym typeface="Norwester"/>
              </a:rPr>
              <a:t>USE COCO 2017 DATASET (IMAGES + MASK ANNOTATIONS).</a:t>
            </a:r>
          </a:p>
          <a:p>
            <a:pPr algn="l" marL="669291" indent="-334646" lvl="1">
              <a:lnSpc>
                <a:spcPts val="4092"/>
              </a:lnSpc>
              <a:buFont typeface="Arial"/>
              <a:buChar char="•"/>
            </a:pPr>
            <a:r>
              <a:rPr lang="en-US" sz="3100" spc="-151">
                <a:solidFill>
                  <a:srgbClr val="000000"/>
                </a:solidFill>
                <a:latin typeface="Norwester"/>
                <a:ea typeface="Norwester"/>
                <a:cs typeface="Norwester"/>
                <a:sym typeface="Norwester"/>
              </a:rPr>
              <a:t>Preprocess: resize, normalize, and augment images.</a:t>
            </a:r>
          </a:p>
          <a:p>
            <a:pPr algn="l" marL="669291" indent="-334646" lvl="1">
              <a:lnSpc>
                <a:spcPts val="4092"/>
              </a:lnSpc>
              <a:buFont typeface="Arial"/>
              <a:buChar char="•"/>
            </a:pPr>
            <a:r>
              <a:rPr lang="en-US" sz="3100" spc="-151">
                <a:solidFill>
                  <a:srgbClr val="000000"/>
                </a:solidFill>
                <a:latin typeface="Norwester"/>
                <a:ea typeface="Norwester"/>
                <a:cs typeface="Norwester"/>
                <a:sym typeface="Norwester"/>
              </a:rPr>
              <a:t>Convert multi-class masks → binary subject-background masks</a:t>
            </a:r>
          </a:p>
          <a:p>
            <a:pPr algn="ctr">
              <a:lnSpc>
                <a:spcPts val="4224"/>
              </a:lnSpc>
              <a:spcBef>
                <a:spcPct val="0"/>
              </a:spcBef>
            </a:pPr>
          </a:p>
        </p:txBody>
      </p:sp>
      <p:sp>
        <p:nvSpPr>
          <p:cNvPr name="TextBox 20" id="20"/>
          <p:cNvSpPr txBox="true"/>
          <p:nvPr/>
        </p:nvSpPr>
        <p:spPr>
          <a:xfrm rot="0">
            <a:off x="4236000" y="3700690"/>
            <a:ext cx="2942321" cy="6390132"/>
          </a:xfrm>
          <a:prstGeom prst="rect">
            <a:avLst/>
          </a:prstGeom>
        </p:spPr>
        <p:txBody>
          <a:bodyPr anchor="t" rtlCol="false" tIns="0" lIns="0" bIns="0" rIns="0">
            <a:spAutoFit/>
          </a:bodyPr>
          <a:lstStyle/>
          <a:p>
            <a:pPr algn="ctr">
              <a:lnSpc>
                <a:spcPts val="4224"/>
              </a:lnSpc>
            </a:pPr>
            <a:r>
              <a:rPr lang="en-US" sz="3200" spc="-156">
                <a:solidFill>
                  <a:srgbClr val="000000"/>
                </a:solidFill>
                <a:latin typeface="Norwester"/>
                <a:ea typeface="Norwester"/>
                <a:cs typeface="Norwester"/>
                <a:sym typeface="Norwester"/>
              </a:rPr>
              <a:t>BASE ARCHITECTURE: U-NET / DEEPLAB / MASK R-CNN.</a:t>
            </a:r>
          </a:p>
          <a:p>
            <a:pPr algn="ctr">
              <a:lnSpc>
                <a:spcPts val="4224"/>
              </a:lnSpc>
            </a:pPr>
            <a:r>
              <a:rPr lang="en-US" sz="3200" spc="-156">
                <a:solidFill>
                  <a:srgbClr val="000000"/>
                </a:solidFill>
                <a:latin typeface="Norwester"/>
                <a:ea typeface="Norwester"/>
                <a:cs typeface="Norwester"/>
                <a:sym typeface="Norwester"/>
              </a:rPr>
              <a:t>Add custom layers to adapt to subject isolation task.</a:t>
            </a:r>
          </a:p>
          <a:p>
            <a:pPr algn="l">
              <a:lnSpc>
                <a:spcPts val="4224"/>
              </a:lnSpc>
            </a:pPr>
            <a:r>
              <a:rPr lang="en-US" sz="3200" spc="-156">
                <a:solidFill>
                  <a:srgbClr val="000000"/>
                </a:solidFill>
                <a:latin typeface="Norwester"/>
                <a:ea typeface="Norwester"/>
                <a:cs typeface="Norwester"/>
                <a:sym typeface="Norwester"/>
              </a:rPr>
              <a:t>Lightweight and optimized for fast inference.</a:t>
            </a:r>
          </a:p>
          <a:p>
            <a:pPr algn="ctr">
              <a:lnSpc>
                <a:spcPts val="4224"/>
              </a:lnSpc>
              <a:spcBef>
                <a:spcPct val="0"/>
              </a:spcBef>
            </a:pPr>
          </a:p>
        </p:txBody>
      </p:sp>
      <p:sp>
        <p:nvSpPr>
          <p:cNvPr name="TextBox 21" id="21"/>
          <p:cNvSpPr txBox="true"/>
          <p:nvPr/>
        </p:nvSpPr>
        <p:spPr>
          <a:xfrm rot="0">
            <a:off x="7510915" y="3700690"/>
            <a:ext cx="3341886" cy="5856732"/>
          </a:xfrm>
          <a:prstGeom prst="rect">
            <a:avLst/>
          </a:prstGeom>
        </p:spPr>
        <p:txBody>
          <a:bodyPr anchor="t" rtlCol="false" tIns="0" lIns="0" bIns="0" rIns="0">
            <a:spAutoFit/>
          </a:bodyPr>
          <a:lstStyle/>
          <a:p>
            <a:pPr algn="ctr">
              <a:lnSpc>
                <a:spcPts val="4224"/>
              </a:lnSpc>
            </a:pPr>
            <a:r>
              <a:rPr lang="en-US" sz="3200" spc="-156">
                <a:solidFill>
                  <a:srgbClr val="000000"/>
                </a:solidFill>
                <a:latin typeface="Norwester"/>
                <a:ea typeface="Norwester"/>
                <a:cs typeface="Norwester"/>
                <a:sym typeface="Norwester"/>
              </a:rPr>
              <a:t>TRAIN ON PREPARED DATASET WITH OPTIMIZED HYPERPARAMETERS.</a:t>
            </a:r>
          </a:p>
          <a:p>
            <a:pPr algn="ctr">
              <a:lnSpc>
                <a:spcPts val="4224"/>
              </a:lnSpc>
            </a:pPr>
            <a:r>
              <a:rPr lang="en-US" sz="3200" spc="-156">
                <a:solidFill>
                  <a:srgbClr val="000000"/>
                </a:solidFill>
                <a:latin typeface="Norwester"/>
                <a:ea typeface="Norwester"/>
                <a:cs typeface="Norwester"/>
                <a:sym typeface="Norwester"/>
              </a:rPr>
              <a:t>Use cross-entropy + Dice loss for pixel-wise segmentation.</a:t>
            </a:r>
          </a:p>
          <a:p>
            <a:pPr algn="ctr">
              <a:lnSpc>
                <a:spcPts val="4224"/>
              </a:lnSpc>
            </a:pPr>
            <a:r>
              <a:rPr lang="en-US" sz="3200" spc="-156">
                <a:solidFill>
                  <a:srgbClr val="000000"/>
                </a:solidFill>
                <a:latin typeface="Norwester"/>
                <a:ea typeface="Norwester"/>
                <a:cs typeface="Norwester"/>
                <a:sym typeface="Norwester"/>
              </a:rPr>
              <a:t>Monitor IoU, Dice, and pixel accuracy during training.</a:t>
            </a:r>
          </a:p>
          <a:p>
            <a:pPr algn="ctr">
              <a:lnSpc>
                <a:spcPts val="4224"/>
              </a:lnSpc>
              <a:spcBef>
                <a:spcPct val="0"/>
              </a:spcBef>
            </a:pPr>
          </a:p>
        </p:txBody>
      </p:sp>
      <p:sp>
        <p:nvSpPr>
          <p:cNvPr name="TextBox 22" id="22"/>
          <p:cNvSpPr txBox="true"/>
          <p:nvPr/>
        </p:nvSpPr>
        <p:spPr>
          <a:xfrm rot="0">
            <a:off x="11014726" y="3700690"/>
            <a:ext cx="3341886" cy="5856732"/>
          </a:xfrm>
          <a:prstGeom prst="rect">
            <a:avLst/>
          </a:prstGeom>
        </p:spPr>
        <p:txBody>
          <a:bodyPr anchor="t" rtlCol="false" tIns="0" lIns="0" bIns="0" rIns="0">
            <a:spAutoFit/>
          </a:bodyPr>
          <a:lstStyle/>
          <a:p>
            <a:pPr algn="ctr">
              <a:lnSpc>
                <a:spcPts val="4224"/>
              </a:lnSpc>
            </a:pPr>
            <a:r>
              <a:rPr lang="en-US" sz="3200" spc="-156">
                <a:solidFill>
                  <a:srgbClr val="000000"/>
                </a:solidFill>
                <a:latin typeface="Norwester"/>
                <a:ea typeface="Norwester"/>
                <a:cs typeface="Norwester"/>
                <a:sym typeface="Norwester"/>
              </a:rPr>
              <a:t>COMPARE PREDICTED MASKS VS GROUND TRUTH.</a:t>
            </a:r>
          </a:p>
          <a:p>
            <a:pPr algn="ctr">
              <a:lnSpc>
                <a:spcPts val="4224"/>
              </a:lnSpc>
            </a:pPr>
            <a:r>
              <a:rPr lang="en-US" sz="3200" spc="-156">
                <a:solidFill>
                  <a:srgbClr val="000000"/>
                </a:solidFill>
                <a:latin typeface="Norwester"/>
                <a:ea typeface="Norwester"/>
                <a:cs typeface="Norwester"/>
                <a:sym typeface="Norwester"/>
              </a:rPr>
              <a:t>Quantitative metrics (IoU, Dice, Precision, Recall).</a:t>
            </a:r>
          </a:p>
          <a:p>
            <a:pPr algn="ctr">
              <a:lnSpc>
                <a:spcPts val="4224"/>
              </a:lnSpc>
            </a:pPr>
            <a:r>
              <a:rPr lang="en-US" sz="3200" spc="-156">
                <a:solidFill>
                  <a:srgbClr val="000000"/>
                </a:solidFill>
                <a:latin typeface="Norwester"/>
                <a:ea typeface="Norwester"/>
                <a:cs typeface="Norwester"/>
                <a:sym typeface="Norwester"/>
              </a:rPr>
              <a:t>Qualitative visuals: original image → mask → isolated subject.</a:t>
            </a:r>
          </a:p>
          <a:p>
            <a:pPr algn="ctr">
              <a:lnSpc>
                <a:spcPts val="4224"/>
              </a:lnSpc>
              <a:spcBef>
                <a:spcPct val="0"/>
              </a:spcBef>
            </a:pPr>
          </a:p>
        </p:txBody>
      </p:sp>
      <p:sp>
        <p:nvSpPr>
          <p:cNvPr name="TextBox 23" id="23"/>
          <p:cNvSpPr txBox="true"/>
          <p:nvPr/>
        </p:nvSpPr>
        <p:spPr>
          <a:xfrm rot="0">
            <a:off x="14515221" y="3700690"/>
            <a:ext cx="3341886" cy="5323332"/>
          </a:xfrm>
          <a:prstGeom prst="rect">
            <a:avLst/>
          </a:prstGeom>
        </p:spPr>
        <p:txBody>
          <a:bodyPr anchor="t" rtlCol="false" tIns="0" lIns="0" bIns="0" rIns="0">
            <a:spAutoFit/>
          </a:bodyPr>
          <a:lstStyle/>
          <a:p>
            <a:pPr algn="ctr">
              <a:lnSpc>
                <a:spcPts val="4224"/>
              </a:lnSpc>
            </a:pPr>
            <a:r>
              <a:rPr lang="en-US" sz="3200" spc="-156">
                <a:solidFill>
                  <a:srgbClr val="000000"/>
                </a:solidFill>
                <a:latin typeface="Norwester"/>
                <a:ea typeface="Norwester"/>
                <a:cs typeface="Norwester"/>
                <a:sym typeface="Norwester"/>
              </a:rPr>
              <a:t>BUILD AN AUTOMATED PIPELINE: IMAGE UPLOAD → PREPROCESSING → MODEL INFERENCE → OUTPUT.</a:t>
            </a:r>
          </a:p>
          <a:p>
            <a:pPr algn="ctr">
              <a:lnSpc>
                <a:spcPts val="4224"/>
              </a:lnSpc>
            </a:pPr>
            <a:r>
              <a:rPr lang="en-US" sz="3200" spc="-156">
                <a:solidFill>
                  <a:srgbClr val="000000"/>
                </a:solidFill>
                <a:latin typeface="Norwester"/>
                <a:ea typeface="Norwester"/>
                <a:cs typeface="Norwester"/>
                <a:sym typeface="Norwester"/>
              </a:rPr>
              <a:t>Ensure real-time subject isolation capability.</a:t>
            </a:r>
          </a:p>
          <a:p>
            <a:pPr algn="ctr">
              <a:lnSpc>
                <a:spcPts val="4224"/>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sp>
        <p:nvSpPr>
          <p:cNvPr name="Freeform 3" id="3"/>
          <p:cNvSpPr/>
          <p:nvPr/>
        </p:nvSpPr>
        <p:spPr>
          <a:xfrm flipH="false" flipV="true" rot="-5400000">
            <a:off x="15871742" y="8039317"/>
            <a:ext cx="3247475" cy="472360"/>
          </a:xfrm>
          <a:custGeom>
            <a:avLst/>
            <a:gdLst/>
            <a:ahLst/>
            <a:cxnLst/>
            <a:rect r="r" b="b" t="t" l="l"/>
            <a:pathLst>
              <a:path h="472360" w="3247475">
                <a:moveTo>
                  <a:pt x="0" y="472360"/>
                </a:moveTo>
                <a:lnTo>
                  <a:pt x="3247476" y="472360"/>
                </a:lnTo>
                <a:lnTo>
                  <a:pt x="3247476" y="0"/>
                </a:lnTo>
                <a:lnTo>
                  <a:pt x="0" y="0"/>
                </a:lnTo>
                <a:lnTo>
                  <a:pt x="0" y="47236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404628" y="2904614"/>
            <a:ext cx="12592150" cy="6016467"/>
          </a:xfrm>
          <a:prstGeom prst="rect">
            <a:avLst/>
          </a:prstGeom>
        </p:spPr>
        <p:txBody>
          <a:bodyPr anchor="t" rtlCol="false" tIns="0" lIns="0" bIns="0" rIns="0">
            <a:spAutoFit/>
          </a:bodyPr>
          <a:lstStyle/>
          <a:p>
            <a:pPr algn="l">
              <a:lnSpc>
                <a:spcPts val="4333"/>
              </a:lnSpc>
            </a:pPr>
            <a:r>
              <a:rPr lang="en-US" sz="3282" spc="-160">
                <a:solidFill>
                  <a:srgbClr val="38B6FF"/>
                </a:solidFill>
                <a:latin typeface="Norwester"/>
                <a:ea typeface="Norwester"/>
                <a:cs typeface="Norwester"/>
                <a:sym typeface="Norwester"/>
              </a:rPr>
              <a:t>THE PROJECT USES THE COCO 2017 DATASET, WHICH PROVIDES A LARGE COLLECTION OF REAL-WORLD IMAGES ALONG WITH CORRESPONDING SEGMENTATION MASKS. THESE MASKS ARE UTILIZED TO TRAIN THE MODEL FOR SUBJECT ISOLATION. DURING PREPROCESSING, ALL IMAGES AND MASKS ARE RESIZED TO A UNIFORM RESOLUTION, NORMALIZED FOR CONSISTENT PIXEL VALUES, AND SUBJECTED TO DATA AUGMENTATION TECHNIQUES SUCH AS FLIPPING, CROPPING, AND COLOR PERTURBATIONS TO IMPROVE MODEL GENERALIZATION. THE ORIGINAL MULTI-CLASS MASKS ARE CAREFULLY CONVERTED INTO BINARY MASKS, ENSURING A CLEAR DISTINCTION BETWEEN THE SUBJECT (FOREGROUND) AND BACKGROUND. FOR MODEL VALIDATION, A DEDICATED VALIDATION SUBSET WITH ANNOTATIONS IS USED TO EVALUATE PERFORMANCE AND MONITOR IMPROVEMENTS DURING TRAINING.</a:t>
            </a:r>
          </a:p>
        </p:txBody>
      </p:sp>
      <p:sp>
        <p:nvSpPr>
          <p:cNvPr name="Freeform 5" id="5"/>
          <p:cNvSpPr/>
          <p:nvPr/>
        </p:nvSpPr>
        <p:spPr>
          <a:xfrm flipH="false" flipV="false" rot="0">
            <a:off x="404628" y="387516"/>
            <a:ext cx="2261028" cy="1282367"/>
          </a:xfrm>
          <a:custGeom>
            <a:avLst/>
            <a:gdLst/>
            <a:ahLst/>
            <a:cxnLst/>
            <a:rect r="r" b="b" t="t" l="l"/>
            <a:pathLst>
              <a:path h="1282367" w="2261028">
                <a:moveTo>
                  <a:pt x="0" y="0"/>
                </a:moveTo>
                <a:lnTo>
                  <a:pt x="2261028" y="0"/>
                </a:lnTo>
                <a:lnTo>
                  <a:pt x="2261028" y="1282368"/>
                </a:lnTo>
                <a:lnTo>
                  <a:pt x="0" y="1282368"/>
                </a:lnTo>
                <a:lnTo>
                  <a:pt x="0" y="0"/>
                </a:lnTo>
                <a:close/>
              </a:path>
            </a:pathLst>
          </a:custGeom>
          <a:blipFill>
            <a:blip r:embed="rId5"/>
            <a:stretch>
              <a:fillRect l="0" t="-5507" r="0" b="-5507"/>
            </a:stretch>
          </a:blipFill>
        </p:spPr>
      </p:sp>
      <p:sp>
        <p:nvSpPr>
          <p:cNvPr name="Freeform 6" id="6"/>
          <p:cNvSpPr/>
          <p:nvPr/>
        </p:nvSpPr>
        <p:spPr>
          <a:xfrm flipH="false" flipV="true" rot="0">
            <a:off x="13748825" y="9258300"/>
            <a:ext cx="3247475" cy="472360"/>
          </a:xfrm>
          <a:custGeom>
            <a:avLst/>
            <a:gdLst/>
            <a:ahLst/>
            <a:cxnLst/>
            <a:rect r="r" b="b" t="t" l="l"/>
            <a:pathLst>
              <a:path h="472360" w="3247475">
                <a:moveTo>
                  <a:pt x="0" y="472360"/>
                </a:moveTo>
                <a:lnTo>
                  <a:pt x="3247475" y="472360"/>
                </a:lnTo>
                <a:lnTo>
                  <a:pt x="3247475" y="0"/>
                </a:lnTo>
                <a:lnTo>
                  <a:pt x="0" y="0"/>
                </a:lnTo>
                <a:lnTo>
                  <a:pt x="0" y="47236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2996778" y="697294"/>
            <a:ext cx="4734882" cy="9033366"/>
          </a:xfrm>
          <a:custGeom>
            <a:avLst/>
            <a:gdLst/>
            <a:ahLst/>
            <a:cxnLst/>
            <a:rect r="r" b="b" t="t" l="l"/>
            <a:pathLst>
              <a:path h="9033366" w="4734882">
                <a:moveTo>
                  <a:pt x="0" y="0"/>
                </a:moveTo>
                <a:lnTo>
                  <a:pt x="4734882" y="0"/>
                </a:lnTo>
                <a:lnTo>
                  <a:pt x="4734882" y="9033366"/>
                </a:lnTo>
                <a:lnTo>
                  <a:pt x="0" y="9033366"/>
                </a:lnTo>
                <a:lnTo>
                  <a:pt x="0" y="0"/>
                </a:lnTo>
                <a:close/>
              </a:path>
            </a:pathLst>
          </a:custGeom>
          <a:blipFill>
            <a:blip r:embed="rId6"/>
            <a:stretch>
              <a:fillRect l="-9786" t="-1744" r="-1838" b="0"/>
            </a:stretch>
          </a:blipFill>
        </p:spPr>
      </p:sp>
      <p:sp>
        <p:nvSpPr>
          <p:cNvPr name="TextBox 8" id="8"/>
          <p:cNvSpPr txBox="true"/>
          <p:nvPr/>
        </p:nvSpPr>
        <p:spPr>
          <a:xfrm rot="0">
            <a:off x="3610663" y="144133"/>
            <a:ext cx="6592155" cy="1979295"/>
          </a:xfrm>
          <a:prstGeom prst="rect">
            <a:avLst/>
          </a:prstGeom>
        </p:spPr>
        <p:txBody>
          <a:bodyPr anchor="t" rtlCol="false" tIns="0" lIns="0" bIns="0" rIns="0">
            <a:spAutoFit/>
          </a:bodyPr>
          <a:lstStyle/>
          <a:p>
            <a:pPr algn="l">
              <a:lnSpc>
                <a:spcPts val="15840"/>
              </a:lnSpc>
            </a:pPr>
            <a:r>
              <a:rPr lang="en-US" sz="12000" spc="-588">
                <a:solidFill>
                  <a:srgbClr val="38B6FF"/>
                </a:solidFill>
                <a:latin typeface="Norwester"/>
                <a:ea typeface="Norwester"/>
                <a:cs typeface="Norwester"/>
                <a:sym typeface="Norwester"/>
              </a:rPr>
              <a:t>DATASET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grpSp>
        <p:nvGrpSpPr>
          <p:cNvPr name="Group 3" id="3"/>
          <p:cNvGrpSpPr/>
          <p:nvPr/>
        </p:nvGrpSpPr>
        <p:grpSpPr>
          <a:xfrm rot="0">
            <a:off x="11747445" y="387516"/>
            <a:ext cx="2330667" cy="2330667"/>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3"/>
              <a:stretch>
                <a:fillRect l="-6447" t="0" r="-6447" b="0"/>
              </a:stretch>
            </a:blipFill>
          </p:spPr>
        </p:sp>
      </p:grpSp>
      <p:grpSp>
        <p:nvGrpSpPr>
          <p:cNvPr name="Group 5" id="5"/>
          <p:cNvGrpSpPr/>
          <p:nvPr/>
        </p:nvGrpSpPr>
        <p:grpSpPr>
          <a:xfrm rot="0">
            <a:off x="8654778" y="387516"/>
            <a:ext cx="2330667" cy="233066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4"/>
              <a:stretch>
                <a:fillRect l="-8432" t="0" r="-8432" b="0"/>
              </a:stretch>
            </a:blipFill>
          </p:spPr>
        </p:sp>
      </p:grpSp>
      <p:grpSp>
        <p:nvGrpSpPr>
          <p:cNvPr name="Group 7" id="7"/>
          <p:cNvGrpSpPr/>
          <p:nvPr/>
        </p:nvGrpSpPr>
        <p:grpSpPr>
          <a:xfrm rot="0">
            <a:off x="14836674" y="387516"/>
            <a:ext cx="2330667" cy="2330667"/>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5"/>
              <a:stretch>
                <a:fillRect l="-8170" t="0" r="-8170" b="0"/>
              </a:stretch>
            </a:blipFill>
          </p:spPr>
        </p:sp>
      </p:grpSp>
      <p:sp>
        <p:nvSpPr>
          <p:cNvPr name="Freeform 9" id="9"/>
          <p:cNvSpPr/>
          <p:nvPr/>
        </p:nvSpPr>
        <p:spPr>
          <a:xfrm flipH="false" flipV="true" rot="0">
            <a:off x="14381707" y="9699387"/>
            <a:ext cx="3247475" cy="472360"/>
          </a:xfrm>
          <a:custGeom>
            <a:avLst/>
            <a:gdLst/>
            <a:ahLst/>
            <a:cxnLst/>
            <a:rect r="r" b="b" t="t" l="l"/>
            <a:pathLst>
              <a:path h="472360" w="3247475">
                <a:moveTo>
                  <a:pt x="0" y="472360"/>
                </a:moveTo>
                <a:lnTo>
                  <a:pt x="3247475" y="472360"/>
                </a:lnTo>
                <a:lnTo>
                  <a:pt x="3247475" y="0"/>
                </a:lnTo>
                <a:lnTo>
                  <a:pt x="0" y="0"/>
                </a:lnTo>
                <a:lnTo>
                  <a:pt x="0" y="47236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404628" y="387516"/>
            <a:ext cx="2261028" cy="1282367"/>
          </a:xfrm>
          <a:custGeom>
            <a:avLst/>
            <a:gdLst/>
            <a:ahLst/>
            <a:cxnLst/>
            <a:rect r="r" b="b" t="t" l="l"/>
            <a:pathLst>
              <a:path h="1282367" w="2261028">
                <a:moveTo>
                  <a:pt x="0" y="0"/>
                </a:moveTo>
                <a:lnTo>
                  <a:pt x="2261028" y="0"/>
                </a:lnTo>
                <a:lnTo>
                  <a:pt x="2261028" y="1282368"/>
                </a:lnTo>
                <a:lnTo>
                  <a:pt x="0" y="1282368"/>
                </a:lnTo>
                <a:lnTo>
                  <a:pt x="0" y="0"/>
                </a:lnTo>
                <a:close/>
              </a:path>
            </a:pathLst>
          </a:custGeom>
          <a:blipFill>
            <a:blip r:embed="rId8"/>
            <a:stretch>
              <a:fillRect l="0" t="-5507" r="0" b="-5507"/>
            </a:stretch>
          </a:blipFill>
        </p:spPr>
      </p:sp>
      <p:sp>
        <p:nvSpPr>
          <p:cNvPr name="Freeform 11" id="11"/>
          <p:cNvSpPr/>
          <p:nvPr/>
        </p:nvSpPr>
        <p:spPr>
          <a:xfrm flipH="false" flipV="false" rot="0">
            <a:off x="176396" y="3980651"/>
            <a:ext cx="17935209" cy="3626880"/>
          </a:xfrm>
          <a:custGeom>
            <a:avLst/>
            <a:gdLst/>
            <a:ahLst/>
            <a:cxnLst/>
            <a:rect r="r" b="b" t="t" l="l"/>
            <a:pathLst>
              <a:path h="3626880" w="17935209">
                <a:moveTo>
                  <a:pt x="0" y="0"/>
                </a:moveTo>
                <a:lnTo>
                  <a:pt x="17935208" y="0"/>
                </a:lnTo>
                <a:lnTo>
                  <a:pt x="17935208" y="3626880"/>
                </a:lnTo>
                <a:lnTo>
                  <a:pt x="0" y="3626880"/>
                </a:lnTo>
                <a:lnTo>
                  <a:pt x="0" y="0"/>
                </a:lnTo>
                <a:close/>
              </a:path>
            </a:pathLst>
          </a:custGeom>
          <a:blipFill>
            <a:blip r:embed="rId9"/>
            <a:stretch>
              <a:fillRect l="-681" t="-4009" r="-681" b="0"/>
            </a:stretch>
          </a:blipFill>
        </p:spPr>
      </p:sp>
      <p:sp>
        <p:nvSpPr>
          <p:cNvPr name="TextBox 12" id="12"/>
          <p:cNvSpPr txBox="true"/>
          <p:nvPr/>
        </p:nvSpPr>
        <p:spPr>
          <a:xfrm rot="0">
            <a:off x="404628" y="8192452"/>
            <a:ext cx="6912622" cy="1979295"/>
          </a:xfrm>
          <a:prstGeom prst="rect">
            <a:avLst/>
          </a:prstGeom>
        </p:spPr>
        <p:txBody>
          <a:bodyPr anchor="t" rtlCol="false" tIns="0" lIns="0" bIns="0" rIns="0">
            <a:spAutoFit/>
          </a:bodyPr>
          <a:lstStyle/>
          <a:p>
            <a:pPr algn="l">
              <a:lnSpc>
                <a:spcPts val="15840"/>
              </a:lnSpc>
            </a:pPr>
            <a:r>
              <a:rPr lang="en-US" sz="12000" spc="-588">
                <a:solidFill>
                  <a:srgbClr val="38B6FF"/>
                </a:solidFill>
                <a:latin typeface="Norwester"/>
                <a:ea typeface="Norwester"/>
                <a:cs typeface="Norwester"/>
                <a:sym typeface="Norwester"/>
              </a:rPr>
              <a:t>FLOWCHART </a:t>
            </a:r>
          </a:p>
        </p:txBody>
      </p:sp>
      <p:sp>
        <p:nvSpPr>
          <p:cNvPr name="TextBox 13" id="13"/>
          <p:cNvSpPr txBox="true"/>
          <p:nvPr/>
        </p:nvSpPr>
        <p:spPr>
          <a:xfrm rot="0">
            <a:off x="8654778" y="2651508"/>
            <a:ext cx="2055276" cy="591821"/>
          </a:xfrm>
          <a:prstGeom prst="rect">
            <a:avLst/>
          </a:prstGeom>
        </p:spPr>
        <p:txBody>
          <a:bodyPr anchor="t" rtlCol="false" tIns="0" lIns="0" bIns="0" rIns="0">
            <a:spAutoFit/>
          </a:bodyPr>
          <a:lstStyle/>
          <a:p>
            <a:pPr algn="l">
              <a:lnSpc>
                <a:spcPts val="4479"/>
              </a:lnSpc>
              <a:spcBef>
                <a:spcPct val="0"/>
              </a:spcBef>
            </a:pPr>
            <a:r>
              <a:rPr lang="en-US" b="true" sz="3199" spc="-127">
                <a:solidFill>
                  <a:srgbClr val="FFFFFF"/>
                </a:solidFill>
                <a:latin typeface="Helvetica World Bold"/>
                <a:ea typeface="Helvetica World Bold"/>
                <a:cs typeface="Helvetica World Bold"/>
                <a:sym typeface="Helvetica World Bold"/>
              </a:rPr>
              <a:t>ORIGINAL</a:t>
            </a:r>
          </a:p>
        </p:txBody>
      </p:sp>
      <p:sp>
        <p:nvSpPr>
          <p:cNvPr name="TextBox 14" id="14"/>
          <p:cNvSpPr txBox="true"/>
          <p:nvPr/>
        </p:nvSpPr>
        <p:spPr>
          <a:xfrm rot="0">
            <a:off x="11745726" y="2651508"/>
            <a:ext cx="2330667" cy="1075056"/>
          </a:xfrm>
          <a:prstGeom prst="rect">
            <a:avLst/>
          </a:prstGeom>
        </p:spPr>
        <p:txBody>
          <a:bodyPr anchor="t" rtlCol="false" tIns="0" lIns="0" bIns="0" rIns="0">
            <a:spAutoFit/>
          </a:bodyPr>
          <a:lstStyle/>
          <a:p>
            <a:pPr algn="l">
              <a:lnSpc>
                <a:spcPts val="3919"/>
              </a:lnSpc>
              <a:spcBef>
                <a:spcPct val="0"/>
              </a:spcBef>
            </a:pPr>
            <a:r>
              <a:rPr lang="en-US" b="true" sz="2799" spc="-111">
                <a:solidFill>
                  <a:srgbClr val="FFFFFF"/>
                </a:solidFill>
                <a:latin typeface="Helvetica World Bold"/>
                <a:ea typeface="Helvetica World Bold"/>
                <a:cs typeface="Helvetica World Bold"/>
                <a:sym typeface="Helvetica World Bold"/>
              </a:rPr>
              <a:t>COLOR MASKING</a:t>
            </a:r>
          </a:p>
        </p:txBody>
      </p:sp>
      <p:sp>
        <p:nvSpPr>
          <p:cNvPr name="TextBox 15" id="15"/>
          <p:cNvSpPr txBox="true"/>
          <p:nvPr/>
        </p:nvSpPr>
        <p:spPr>
          <a:xfrm rot="0">
            <a:off x="14840111" y="2651508"/>
            <a:ext cx="2330667" cy="1075056"/>
          </a:xfrm>
          <a:prstGeom prst="rect">
            <a:avLst/>
          </a:prstGeom>
        </p:spPr>
        <p:txBody>
          <a:bodyPr anchor="t" rtlCol="false" tIns="0" lIns="0" bIns="0" rIns="0">
            <a:spAutoFit/>
          </a:bodyPr>
          <a:lstStyle/>
          <a:p>
            <a:pPr algn="l">
              <a:lnSpc>
                <a:spcPts val="3919"/>
              </a:lnSpc>
              <a:spcBef>
                <a:spcPct val="0"/>
              </a:spcBef>
            </a:pPr>
            <a:r>
              <a:rPr lang="en-US" b="true" sz="2799" spc="-111">
                <a:solidFill>
                  <a:srgbClr val="FFFFFF"/>
                </a:solidFill>
                <a:latin typeface="Helvetica World Bold"/>
                <a:ea typeface="Helvetica World Bold"/>
                <a:cs typeface="Helvetica World Bold"/>
                <a:sym typeface="Helvetica World Bold"/>
              </a:rPr>
              <a:t>BINARY MASKING</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sp>
        <p:nvSpPr>
          <p:cNvPr name="Freeform 3" id="3"/>
          <p:cNvSpPr/>
          <p:nvPr/>
        </p:nvSpPr>
        <p:spPr>
          <a:xfrm flipH="false" flipV="true" rot="0">
            <a:off x="14364339" y="9258300"/>
            <a:ext cx="3247475" cy="472360"/>
          </a:xfrm>
          <a:custGeom>
            <a:avLst/>
            <a:gdLst/>
            <a:ahLst/>
            <a:cxnLst/>
            <a:rect r="r" b="b" t="t" l="l"/>
            <a:pathLst>
              <a:path h="472360" w="3247475">
                <a:moveTo>
                  <a:pt x="0" y="472360"/>
                </a:moveTo>
                <a:lnTo>
                  <a:pt x="3247475" y="472360"/>
                </a:lnTo>
                <a:lnTo>
                  <a:pt x="3247475" y="0"/>
                </a:lnTo>
                <a:lnTo>
                  <a:pt x="0" y="0"/>
                </a:lnTo>
                <a:lnTo>
                  <a:pt x="0" y="47236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404628" y="387516"/>
            <a:ext cx="2261028" cy="1282367"/>
          </a:xfrm>
          <a:custGeom>
            <a:avLst/>
            <a:gdLst/>
            <a:ahLst/>
            <a:cxnLst/>
            <a:rect r="r" b="b" t="t" l="l"/>
            <a:pathLst>
              <a:path h="1282367" w="2261028">
                <a:moveTo>
                  <a:pt x="0" y="0"/>
                </a:moveTo>
                <a:lnTo>
                  <a:pt x="2261028" y="0"/>
                </a:lnTo>
                <a:lnTo>
                  <a:pt x="2261028" y="1282368"/>
                </a:lnTo>
                <a:lnTo>
                  <a:pt x="0" y="1282368"/>
                </a:lnTo>
                <a:lnTo>
                  <a:pt x="0" y="0"/>
                </a:lnTo>
                <a:close/>
              </a:path>
            </a:pathLst>
          </a:custGeom>
          <a:blipFill>
            <a:blip r:embed="rId5"/>
            <a:stretch>
              <a:fillRect l="0" t="-5507" r="0" b="-5507"/>
            </a:stretch>
          </a:blipFill>
        </p:spPr>
      </p:sp>
      <p:sp>
        <p:nvSpPr>
          <p:cNvPr name="Freeform 5" id="5"/>
          <p:cNvSpPr/>
          <p:nvPr/>
        </p:nvSpPr>
        <p:spPr>
          <a:xfrm flipH="false" flipV="false" rot="0">
            <a:off x="852443" y="1987261"/>
            <a:ext cx="16583114" cy="7743399"/>
          </a:xfrm>
          <a:custGeom>
            <a:avLst/>
            <a:gdLst/>
            <a:ahLst/>
            <a:cxnLst/>
            <a:rect r="r" b="b" t="t" l="l"/>
            <a:pathLst>
              <a:path h="7743399" w="16583114">
                <a:moveTo>
                  <a:pt x="0" y="0"/>
                </a:moveTo>
                <a:lnTo>
                  <a:pt x="16583114" y="0"/>
                </a:lnTo>
                <a:lnTo>
                  <a:pt x="16583114" y="7743399"/>
                </a:lnTo>
                <a:lnTo>
                  <a:pt x="0" y="7743399"/>
                </a:lnTo>
                <a:lnTo>
                  <a:pt x="0" y="0"/>
                </a:lnTo>
                <a:close/>
              </a:path>
            </a:pathLst>
          </a:custGeom>
          <a:blipFill>
            <a:blip r:embed="rId6"/>
            <a:stretch>
              <a:fillRect l="0" t="-35625" r="0" b="-36097"/>
            </a:stretch>
          </a:blipFill>
        </p:spPr>
      </p:sp>
      <p:sp>
        <p:nvSpPr>
          <p:cNvPr name="TextBox 6" id="6"/>
          <p:cNvSpPr txBox="true"/>
          <p:nvPr/>
        </p:nvSpPr>
        <p:spPr>
          <a:xfrm rot="0">
            <a:off x="3480343" y="365854"/>
            <a:ext cx="11327314" cy="1588592"/>
          </a:xfrm>
          <a:prstGeom prst="rect">
            <a:avLst/>
          </a:prstGeom>
        </p:spPr>
        <p:txBody>
          <a:bodyPr anchor="t" rtlCol="false" tIns="0" lIns="0" bIns="0" rIns="0">
            <a:spAutoFit/>
          </a:bodyPr>
          <a:lstStyle/>
          <a:p>
            <a:pPr algn="l">
              <a:lnSpc>
                <a:spcPts val="11424"/>
              </a:lnSpc>
            </a:pPr>
            <a:r>
              <a:rPr lang="en-US" sz="13132" spc="-643">
                <a:solidFill>
                  <a:srgbClr val="38B6FF"/>
                </a:solidFill>
                <a:latin typeface="Norwester"/>
                <a:ea typeface="Norwester"/>
                <a:cs typeface="Norwester"/>
                <a:sym typeface="Norwester"/>
              </a:rPr>
              <a:t>IMPLEMENTATION</a:t>
            </a:r>
          </a:p>
        </p:txBody>
      </p:sp>
      <p:sp>
        <p:nvSpPr>
          <p:cNvPr name="TextBox 7" id="7"/>
          <p:cNvSpPr txBox="true"/>
          <p:nvPr/>
        </p:nvSpPr>
        <p:spPr>
          <a:xfrm rot="0">
            <a:off x="474261" y="2034446"/>
            <a:ext cx="8845996" cy="563879"/>
          </a:xfrm>
          <a:prstGeom prst="rect">
            <a:avLst/>
          </a:prstGeom>
        </p:spPr>
        <p:txBody>
          <a:bodyPr anchor="t" rtlCol="false" tIns="0" lIns="0" bIns="0" rIns="0">
            <a:spAutoFit/>
          </a:bodyPr>
          <a:lstStyle/>
          <a:p>
            <a:pPr algn="ctr">
              <a:lnSpc>
                <a:spcPts val="4620"/>
              </a:lnSpc>
            </a:pPr>
            <a:r>
              <a:rPr lang="en-US" sz="3300" b="true">
                <a:solidFill>
                  <a:srgbClr val="FF1FA9"/>
                </a:solidFill>
                <a:latin typeface="Canva Sans Bold"/>
                <a:ea typeface="Canva Sans Bold"/>
                <a:cs typeface="Canva Sans Bold"/>
                <a:sym typeface="Canva Sans Bold"/>
              </a:rPr>
              <a:t>USER INTERFACE (Web Application)</a:t>
            </a:r>
          </a:p>
        </p:txBody>
      </p:sp>
      <p:sp>
        <p:nvSpPr>
          <p:cNvPr name="TextBox 8" id="8"/>
          <p:cNvSpPr txBox="true"/>
          <p:nvPr/>
        </p:nvSpPr>
        <p:spPr>
          <a:xfrm rot="0">
            <a:off x="1236522" y="2560225"/>
            <a:ext cx="9498205" cy="1589532"/>
          </a:xfrm>
          <a:prstGeom prst="rect">
            <a:avLst/>
          </a:prstGeom>
        </p:spPr>
        <p:txBody>
          <a:bodyPr anchor="t" rtlCol="false" tIns="0" lIns="0" bIns="0" rIns="0">
            <a:spAutoFit/>
          </a:bodyPr>
          <a:lstStyle/>
          <a:p>
            <a:pPr algn="ctr">
              <a:lnSpc>
                <a:spcPts val="4224"/>
              </a:lnSpc>
            </a:pPr>
            <a:r>
              <a:rPr lang="en-US" sz="3200" spc="-156">
                <a:solidFill>
                  <a:srgbClr val="000000"/>
                </a:solidFill>
                <a:latin typeface="Norwester"/>
                <a:ea typeface="Norwester"/>
                <a:cs typeface="Norwester"/>
                <a:sym typeface="Norwester"/>
              </a:rPr>
              <a:t>1.)   USER UPLOADS AN IMAGE THROUGH A SIMPLE WEB INTERFACE.</a:t>
            </a:r>
          </a:p>
          <a:p>
            <a:pPr algn="l">
              <a:lnSpc>
                <a:spcPts val="4224"/>
              </a:lnSpc>
            </a:pPr>
            <a:r>
              <a:rPr lang="en-US" sz="3200" spc="-156">
                <a:solidFill>
                  <a:srgbClr val="000000"/>
                </a:solidFill>
                <a:latin typeface="Norwester"/>
                <a:ea typeface="Norwester"/>
                <a:cs typeface="Norwester"/>
                <a:sym typeface="Norwester"/>
              </a:rPr>
              <a:t>2.)  mage is sent as a blob via HTTP request.</a:t>
            </a:r>
          </a:p>
          <a:p>
            <a:pPr algn="ctr">
              <a:lnSpc>
                <a:spcPts val="4224"/>
              </a:lnSpc>
              <a:spcBef>
                <a:spcPct val="0"/>
              </a:spcBef>
            </a:pPr>
          </a:p>
        </p:txBody>
      </p:sp>
      <p:sp>
        <p:nvSpPr>
          <p:cNvPr name="TextBox 9" id="9"/>
          <p:cNvSpPr txBox="true"/>
          <p:nvPr/>
        </p:nvSpPr>
        <p:spPr>
          <a:xfrm rot="0">
            <a:off x="461577" y="3507086"/>
            <a:ext cx="5609277" cy="563879"/>
          </a:xfrm>
          <a:prstGeom prst="rect">
            <a:avLst/>
          </a:prstGeom>
        </p:spPr>
        <p:txBody>
          <a:bodyPr anchor="t" rtlCol="false" tIns="0" lIns="0" bIns="0" rIns="0">
            <a:spAutoFit/>
          </a:bodyPr>
          <a:lstStyle/>
          <a:p>
            <a:pPr algn="ctr">
              <a:lnSpc>
                <a:spcPts val="4620"/>
              </a:lnSpc>
            </a:pPr>
            <a:r>
              <a:rPr lang="en-US" sz="3300" b="true">
                <a:solidFill>
                  <a:srgbClr val="FF1FA9"/>
                </a:solidFill>
                <a:latin typeface="Canva Sans Bold"/>
                <a:ea typeface="Canva Sans Bold"/>
                <a:cs typeface="Canva Sans Bold"/>
                <a:sym typeface="Canva Sans Bold"/>
              </a:rPr>
              <a:t>REST API (Backend)</a:t>
            </a:r>
          </a:p>
        </p:txBody>
      </p:sp>
      <p:sp>
        <p:nvSpPr>
          <p:cNvPr name="TextBox 10" id="10"/>
          <p:cNvSpPr txBox="true"/>
          <p:nvPr/>
        </p:nvSpPr>
        <p:spPr>
          <a:xfrm rot="0">
            <a:off x="474261" y="5228328"/>
            <a:ext cx="3462146" cy="563879"/>
          </a:xfrm>
          <a:prstGeom prst="rect">
            <a:avLst/>
          </a:prstGeom>
        </p:spPr>
        <p:txBody>
          <a:bodyPr anchor="t" rtlCol="false" tIns="0" lIns="0" bIns="0" rIns="0">
            <a:spAutoFit/>
          </a:bodyPr>
          <a:lstStyle/>
          <a:p>
            <a:pPr algn="ctr">
              <a:lnSpc>
                <a:spcPts val="4620"/>
              </a:lnSpc>
            </a:pPr>
            <a:r>
              <a:rPr lang="en-US" sz="3300" b="true">
                <a:solidFill>
                  <a:srgbClr val="FF1FA9"/>
                </a:solidFill>
                <a:latin typeface="Canva Sans Bold"/>
                <a:ea typeface="Canva Sans Bold"/>
                <a:cs typeface="Canva Sans Bold"/>
                <a:sym typeface="Canva Sans Bold"/>
              </a:rPr>
              <a:t>ENCODER</a:t>
            </a:r>
          </a:p>
        </p:txBody>
      </p:sp>
      <p:sp>
        <p:nvSpPr>
          <p:cNvPr name="TextBox 11" id="11"/>
          <p:cNvSpPr txBox="true"/>
          <p:nvPr/>
        </p:nvSpPr>
        <p:spPr>
          <a:xfrm rot="0">
            <a:off x="404628" y="6697081"/>
            <a:ext cx="6779464" cy="563879"/>
          </a:xfrm>
          <a:prstGeom prst="rect">
            <a:avLst/>
          </a:prstGeom>
        </p:spPr>
        <p:txBody>
          <a:bodyPr anchor="t" rtlCol="false" tIns="0" lIns="0" bIns="0" rIns="0">
            <a:spAutoFit/>
          </a:bodyPr>
          <a:lstStyle/>
          <a:p>
            <a:pPr algn="ctr">
              <a:lnSpc>
                <a:spcPts val="4620"/>
              </a:lnSpc>
            </a:pPr>
            <a:r>
              <a:rPr lang="en-US" sz="3300" b="true">
                <a:solidFill>
                  <a:srgbClr val="FF1FA9"/>
                </a:solidFill>
                <a:latin typeface="Canva Sans Bold"/>
                <a:ea typeface="Canva Sans Bold"/>
                <a:cs typeface="Canva Sans Bold"/>
                <a:sym typeface="Canva Sans Bold"/>
              </a:rPr>
              <a:t>SEGMENTATION MODEL</a:t>
            </a:r>
          </a:p>
        </p:txBody>
      </p:sp>
      <p:sp>
        <p:nvSpPr>
          <p:cNvPr name="TextBox 12" id="12"/>
          <p:cNvSpPr txBox="true"/>
          <p:nvPr/>
        </p:nvSpPr>
        <p:spPr>
          <a:xfrm rot="0">
            <a:off x="336675" y="8352525"/>
            <a:ext cx="5648950" cy="563879"/>
          </a:xfrm>
          <a:prstGeom prst="rect">
            <a:avLst/>
          </a:prstGeom>
        </p:spPr>
        <p:txBody>
          <a:bodyPr anchor="t" rtlCol="false" tIns="0" lIns="0" bIns="0" rIns="0">
            <a:spAutoFit/>
          </a:bodyPr>
          <a:lstStyle/>
          <a:p>
            <a:pPr algn="ctr">
              <a:lnSpc>
                <a:spcPts val="4620"/>
              </a:lnSpc>
            </a:pPr>
            <a:r>
              <a:rPr lang="en-US" sz="3300" b="true">
                <a:solidFill>
                  <a:srgbClr val="FF1FA9"/>
                </a:solidFill>
                <a:latin typeface="Canva Sans Bold"/>
                <a:ea typeface="Canva Sans Bold"/>
                <a:cs typeface="Canva Sans Bold"/>
                <a:sym typeface="Canva Sans Bold"/>
              </a:rPr>
              <a:t>OUTPUT IMAGES</a:t>
            </a:r>
          </a:p>
        </p:txBody>
      </p:sp>
      <p:sp>
        <p:nvSpPr>
          <p:cNvPr name="TextBox 13" id="13"/>
          <p:cNvSpPr txBox="true"/>
          <p:nvPr/>
        </p:nvSpPr>
        <p:spPr>
          <a:xfrm rot="0">
            <a:off x="1236522" y="3954073"/>
            <a:ext cx="8990112" cy="1589532"/>
          </a:xfrm>
          <a:prstGeom prst="rect">
            <a:avLst/>
          </a:prstGeom>
        </p:spPr>
        <p:txBody>
          <a:bodyPr anchor="t" rtlCol="false" tIns="0" lIns="0" bIns="0" rIns="0">
            <a:spAutoFit/>
          </a:bodyPr>
          <a:lstStyle/>
          <a:p>
            <a:pPr algn="l">
              <a:lnSpc>
                <a:spcPts val="4224"/>
              </a:lnSpc>
            </a:pPr>
            <a:r>
              <a:rPr lang="en-US" sz="3200" spc="-156">
                <a:solidFill>
                  <a:srgbClr val="000000"/>
                </a:solidFill>
                <a:latin typeface="Norwester"/>
                <a:ea typeface="Norwester"/>
                <a:cs typeface="Norwester"/>
                <a:sym typeface="Norwester"/>
              </a:rPr>
              <a:t>1.)  RECEIVES THE UPLOADED IMAGE..</a:t>
            </a:r>
          </a:p>
          <a:p>
            <a:pPr algn="l">
              <a:lnSpc>
                <a:spcPts val="4224"/>
              </a:lnSpc>
            </a:pPr>
            <a:r>
              <a:rPr lang="en-US" sz="3200" spc="-156">
                <a:solidFill>
                  <a:srgbClr val="000000"/>
                </a:solidFill>
                <a:latin typeface="Norwester"/>
                <a:ea typeface="Norwester"/>
                <a:cs typeface="Norwester"/>
                <a:sym typeface="Norwester"/>
              </a:rPr>
              <a:t>2.)  </a:t>
            </a:r>
            <a:r>
              <a:rPr lang="en-US" sz="3200" spc="-156">
                <a:solidFill>
                  <a:srgbClr val="000000"/>
                </a:solidFill>
                <a:latin typeface="Norwester"/>
                <a:ea typeface="Norwester"/>
                <a:cs typeface="Norwester"/>
                <a:sym typeface="Norwester"/>
              </a:rPr>
              <a:t>Converts the blob into a usable image matrix format.</a:t>
            </a:r>
          </a:p>
          <a:p>
            <a:pPr algn="ctr">
              <a:lnSpc>
                <a:spcPts val="4224"/>
              </a:lnSpc>
              <a:spcBef>
                <a:spcPct val="0"/>
              </a:spcBef>
            </a:pPr>
          </a:p>
        </p:txBody>
      </p:sp>
      <p:sp>
        <p:nvSpPr>
          <p:cNvPr name="TextBox 14" id="14"/>
          <p:cNvSpPr txBox="true"/>
          <p:nvPr/>
        </p:nvSpPr>
        <p:spPr>
          <a:xfrm rot="0">
            <a:off x="-724152" y="5657141"/>
            <a:ext cx="10862636" cy="1589532"/>
          </a:xfrm>
          <a:prstGeom prst="rect">
            <a:avLst/>
          </a:prstGeom>
        </p:spPr>
        <p:txBody>
          <a:bodyPr anchor="t" rtlCol="false" tIns="0" lIns="0" bIns="0" rIns="0">
            <a:spAutoFit/>
          </a:bodyPr>
          <a:lstStyle/>
          <a:p>
            <a:pPr algn="ctr">
              <a:lnSpc>
                <a:spcPts val="4224"/>
              </a:lnSpc>
            </a:pPr>
            <a:r>
              <a:rPr lang="en-US" sz="3200" spc="-156">
                <a:solidFill>
                  <a:srgbClr val="000000"/>
                </a:solidFill>
                <a:latin typeface="Norwester"/>
                <a:ea typeface="Norwester"/>
                <a:cs typeface="Norwester"/>
                <a:sym typeface="Norwester"/>
              </a:rPr>
              <a:t>1.)  PREPROCESSES AND NORMALIZES THE IMAGE.</a:t>
            </a:r>
          </a:p>
          <a:p>
            <a:pPr algn="ctr">
              <a:lnSpc>
                <a:spcPts val="4224"/>
              </a:lnSpc>
            </a:pPr>
            <a:r>
              <a:rPr lang="en-US" sz="3200" spc="-156">
                <a:solidFill>
                  <a:srgbClr val="000000"/>
                </a:solidFill>
                <a:latin typeface="Norwester"/>
                <a:ea typeface="Norwester"/>
                <a:cs typeface="Norwester"/>
                <a:sym typeface="Norwester"/>
              </a:rPr>
              <a:t>              2.)</a:t>
            </a:r>
            <a:r>
              <a:rPr lang="en-US" sz="3200" spc="-156">
                <a:solidFill>
                  <a:srgbClr val="000000"/>
                </a:solidFill>
                <a:latin typeface="Norwester"/>
                <a:ea typeface="Norwester"/>
                <a:cs typeface="Norwester"/>
                <a:sym typeface="Norwester"/>
              </a:rPr>
              <a:t>  </a:t>
            </a:r>
            <a:r>
              <a:rPr lang="en-US" sz="3200" spc="-156">
                <a:solidFill>
                  <a:srgbClr val="000000"/>
                </a:solidFill>
                <a:latin typeface="Norwester"/>
                <a:ea typeface="Norwester"/>
                <a:cs typeface="Norwester"/>
                <a:sym typeface="Norwester"/>
              </a:rPr>
              <a:t>Extracts essential features for segmentation.</a:t>
            </a:r>
          </a:p>
          <a:p>
            <a:pPr algn="l">
              <a:lnSpc>
                <a:spcPts val="4224"/>
              </a:lnSpc>
              <a:spcBef>
                <a:spcPct val="0"/>
              </a:spcBef>
            </a:pPr>
          </a:p>
        </p:txBody>
      </p:sp>
      <p:sp>
        <p:nvSpPr>
          <p:cNvPr name="TextBox 15" id="15"/>
          <p:cNvSpPr txBox="true"/>
          <p:nvPr/>
        </p:nvSpPr>
        <p:spPr>
          <a:xfrm rot="0">
            <a:off x="1028700" y="7326872"/>
            <a:ext cx="8967743" cy="1589532"/>
          </a:xfrm>
          <a:prstGeom prst="rect">
            <a:avLst/>
          </a:prstGeom>
        </p:spPr>
        <p:txBody>
          <a:bodyPr anchor="t" rtlCol="false" tIns="0" lIns="0" bIns="0" rIns="0">
            <a:spAutoFit/>
          </a:bodyPr>
          <a:lstStyle/>
          <a:p>
            <a:pPr algn="l">
              <a:lnSpc>
                <a:spcPts val="4224"/>
              </a:lnSpc>
            </a:pPr>
            <a:r>
              <a:rPr lang="en-US" sz="3200" spc="-156">
                <a:solidFill>
                  <a:srgbClr val="000000"/>
                </a:solidFill>
                <a:latin typeface="Norwester"/>
                <a:ea typeface="Norwester"/>
                <a:cs typeface="Norwester"/>
                <a:sym typeface="Norwester"/>
              </a:rPr>
              <a:t>1.)  A BINARY MASK: SUBJECT (FOREGROUND) VS BACKGROUN</a:t>
            </a:r>
          </a:p>
          <a:p>
            <a:pPr algn="l">
              <a:lnSpc>
                <a:spcPts val="4224"/>
              </a:lnSpc>
            </a:pPr>
            <a:r>
              <a:rPr lang="en-US" sz="3200" spc="-156">
                <a:solidFill>
                  <a:srgbClr val="000000"/>
                </a:solidFill>
                <a:latin typeface="Norwester"/>
                <a:ea typeface="Norwester"/>
                <a:cs typeface="Norwester"/>
                <a:sym typeface="Norwester"/>
              </a:rPr>
              <a:t>2.)  </a:t>
            </a:r>
            <a:r>
              <a:rPr lang="en-US" sz="3200" spc="-156">
                <a:solidFill>
                  <a:srgbClr val="000000"/>
                </a:solidFill>
                <a:latin typeface="Norwester"/>
                <a:ea typeface="Norwester"/>
                <a:cs typeface="Norwester"/>
                <a:sym typeface="Norwester"/>
              </a:rPr>
              <a:t>Generates pixel-level classification.</a:t>
            </a:r>
          </a:p>
          <a:p>
            <a:pPr algn="l">
              <a:lnSpc>
                <a:spcPts val="4224"/>
              </a:lnSpc>
              <a:spcBef>
                <a:spcPct val="0"/>
              </a:spcBef>
            </a:pPr>
          </a:p>
        </p:txBody>
      </p:sp>
      <p:sp>
        <p:nvSpPr>
          <p:cNvPr name="TextBox 16" id="16"/>
          <p:cNvSpPr txBox="true"/>
          <p:nvPr/>
        </p:nvSpPr>
        <p:spPr>
          <a:xfrm rot="0">
            <a:off x="1236522" y="9030704"/>
            <a:ext cx="11544796" cy="1589532"/>
          </a:xfrm>
          <a:prstGeom prst="rect">
            <a:avLst/>
          </a:prstGeom>
        </p:spPr>
        <p:txBody>
          <a:bodyPr anchor="t" rtlCol="false" tIns="0" lIns="0" bIns="0" rIns="0">
            <a:spAutoFit/>
          </a:bodyPr>
          <a:lstStyle/>
          <a:p>
            <a:pPr algn="ctr">
              <a:lnSpc>
                <a:spcPts val="4224"/>
              </a:lnSpc>
            </a:pPr>
            <a:r>
              <a:rPr lang="en-US" sz="3200" spc="-156">
                <a:solidFill>
                  <a:srgbClr val="000000"/>
                </a:solidFill>
                <a:latin typeface="Norwester"/>
                <a:ea typeface="Norwester"/>
                <a:cs typeface="Norwester"/>
                <a:sym typeface="Norwester"/>
              </a:rPr>
              <a:t>1.)  APPLIES MASK → SUBJECT REMAINS, BACKGROUND IS REPLACED WITH BLACK.</a:t>
            </a:r>
          </a:p>
          <a:p>
            <a:pPr algn="ctr">
              <a:lnSpc>
                <a:spcPts val="4224"/>
              </a:lnSpc>
            </a:pPr>
          </a:p>
          <a:p>
            <a:pPr algn="l">
              <a:lnSpc>
                <a:spcPts val="4224"/>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sp>
        <p:nvSpPr>
          <p:cNvPr name="Freeform 3" id="3"/>
          <p:cNvSpPr/>
          <p:nvPr/>
        </p:nvSpPr>
        <p:spPr>
          <a:xfrm flipH="false" flipV="true" rot="0">
            <a:off x="15040525" y="151336"/>
            <a:ext cx="3247475" cy="472360"/>
          </a:xfrm>
          <a:custGeom>
            <a:avLst/>
            <a:gdLst/>
            <a:ahLst/>
            <a:cxnLst/>
            <a:rect r="r" b="b" t="t" l="l"/>
            <a:pathLst>
              <a:path h="472360" w="3247475">
                <a:moveTo>
                  <a:pt x="0" y="472360"/>
                </a:moveTo>
                <a:lnTo>
                  <a:pt x="3247475" y="472360"/>
                </a:lnTo>
                <a:lnTo>
                  <a:pt x="3247475" y="0"/>
                </a:lnTo>
                <a:lnTo>
                  <a:pt x="0" y="0"/>
                </a:lnTo>
                <a:lnTo>
                  <a:pt x="0" y="47236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404628" y="1946109"/>
            <a:ext cx="9051860" cy="1051809"/>
          </a:xfrm>
          <a:prstGeom prst="rect">
            <a:avLst/>
          </a:prstGeom>
        </p:spPr>
        <p:txBody>
          <a:bodyPr anchor="t" rtlCol="false" tIns="0" lIns="0" bIns="0" rIns="0">
            <a:spAutoFit/>
          </a:bodyPr>
          <a:lstStyle/>
          <a:p>
            <a:pPr algn="l">
              <a:lnSpc>
                <a:spcPts val="7597"/>
              </a:lnSpc>
            </a:pPr>
            <a:r>
              <a:rPr lang="en-US" sz="8733" spc="-427">
                <a:solidFill>
                  <a:srgbClr val="38B6FF"/>
                </a:solidFill>
                <a:latin typeface="Norwester"/>
                <a:ea typeface="Norwester"/>
                <a:cs typeface="Norwester"/>
                <a:sym typeface="Norwester"/>
              </a:rPr>
              <a:t>ADVANTAGES: </a:t>
            </a:r>
          </a:p>
        </p:txBody>
      </p:sp>
      <p:sp>
        <p:nvSpPr>
          <p:cNvPr name="Freeform 5" id="5"/>
          <p:cNvSpPr/>
          <p:nvPr/>
        </p:nvSpPr>
        <p:spPr>
          <a:xfrm flipH="false" flipV="false" rot="0">
            <a:off x="404628" y="387516"/>
            <a:ext cx="2261028" cy="1282367"/>
          </a:xfrm>
          <a:custGeom>
            <a:avLst/>
            <a:gdLst/>
            <a:ahLst/>
            <a:cxnLst/>
            <a:rect r="r" b="b" t="t" l="l"/>
            <a:pathLst>
              <a:path h="1282367" w="2261028">
                <a:moveTo>
                  <a:pt x="0" y="0"/>
                </a:moveTo>
                <a:lnTo>
                  <a:pt x="2261028" y="0"/>
                </a:lnTo>
                <a:lnTo>
                  <a:pt x="2261028" y="1282368"/>
                </a:lnTo>
                <a:lnTo>
                  <a:pt x="0" y="1282368"/>
                </a:lnTo>
                <a:lnTo>
                  <a:pt x="0" y="0"/>
                </a:lnTo>
                <a:close/>
              </a:path>
            </a:pathLst>
          </a:custGeom>
          <a:blipFill>
            <a:blip r:embed="rId5"/>
            <a:stretch>
              <a:fillRect l="0" t="-5507" r="0" b="-5507"/>
            </a:stretch>
          </a:blipFill>
        </p:spPr>
      </p:sp>
      <p:sp>
        <p:nvSpPr>
          <p:cNvPr name="TextBox 6" id="6"/>
          <p:cNvSpPr txBox="true"/>
          <p:nvPr/>
        </p:nvSpPr>
        <p:spPr>
          <a:xfrm rot="0">
            <a:off x="404628" y="5687742"/>
            <a:ext cx="9051860" cy="1051809"/>
          </a:xfrm>
          <a:prstGeom prst="rect">
            <a:avLst/>
          </a:prstGeom>
        </p:spPr>
        <p:txBody>
          <a:bodyPr anchor="t" rtlCol="false" tIns="0" lIns="0" bIns="0" rIns="0">
            <a:spAutoFit/>
          </a:bodyPr>
          <a:lstStyle/>
          <a:p>
            <a:pPr algn="l">
              <a:lnSpc>
                <a:spcPts val="7597"/>
              </a:lnSpc>
            </a:pPr>
            <a:r>
              <a:rPr lang="en-US" sz="8733" spc="-427">
                <a:solidFill>
                  <a:srgbClr val="38B6FF"/>
                </a:solidFill>
                <a:latin typeface="Norwester"/>
                <a:ea typeface="Norwester"/>
                <a:cs typeface="Norwester"/>
                <a:sym typeface="Norwester"/>
              </a:rPr>
              <a:t>DISADVANTAGES: </a:t>
            </a:r>
          </a:p>
        </p:txBody>
      </p:sp>
      <p:sp>
        <p:nvSpPr>
          <p:cNvPr name="TextBox 7" id="7"/>
          <p:cNvSpPr txBox="true"/>
          <p:nvPr/>
        </p:nvSpPr>
        <p:spPr>
          <a:xfrm rot="0">
            <a:off x="404628" y="2959818"/>
            <a:ext cx="12550478" cy="2656332"/>
          </a:xfrm>
          <a:prstGeom prst="rect">
            <a:avLst/>
          </a:prstGeom>
        </p:spPr>
        <p:txBody>
          <a:bodyPr anchor="t" rtlCol="false" tIns="0" lIns="0" bIns="0" rIns="0">
            <a:spAutoFit/>
          </a:bodyPr>
          <a:lstStyle/>
          <a:p>
            <a:pPr algn="l" marL="690881" indent="-345440" lvl="1">
              <a:lnSpc>
                <a:spcPts val="4224"/>
              </a:lnSpc>
              <a:buFont typeface="Arial"/>
              <a:buChar char="•"/>
            </a:pPr>
            <a:r>
              <a:rPr lang="en-US" sz="3200" spc="-156">
                <a:solidFill>
                  <a:srgbClr val="FF66C4"/>
                </a:solidFill>
                <a:latin typeface="Norwester"/>
                <a:ea typeface="Norwester"/>
                <a:cs typeface="Norwester"/>
                <a:sym typeface="Norwester"/>
              </a:rPr>
              <a:t>PROVIDES PIXEL-LEVEL ACCURACY FOR OBJECT/SUBJECT SEPARATION.</a:t>
            </a:r>
          </a:p>
          <a:p>
            <a:pPr algn="l" marL="690881" indent="-345440" lvl="1">
              <a:lnSpc>
                <a:spcPts val="4224"/>
              </a:lnSpc>
              <a:buFont typeface="Arial"/>
              <a:buChar char="•"/>
            </a:pPr>
            <a:r>
              <a:rPr lang="en-US" sz="3200" spc="-156">
                <a:solidFill>
                  <a:srgbClr val="FF66C4"/>
                </a:solidFill>
                <a:latin typeface="Norwester"/>
                <a:ea typeface="Norwester"/>
                <a:cs typeface="Norwester"/>
                <a:sym typeface="Norwester"/>
              </a:rPr>
              <a:t>Essential for medical imaging, AR/VR, autonomous driving, and digital art.</a:t>
            </a:r>
          </a:p>
          <a:p>
            <a:pPr algn="l" marL="690881" indent="-345440" lvl="1">
              <a:lnSpc>
                <a:spcPts val="4224"/>
              </a:lnSpc>
              <a:buFont typeface="Arial"/>
              <a:buChar char="•"/>
            </a:pPr>
            <a:r>
              <a:rPr lang="en-US" sz="3200" spc="-156">
                <a:solidFill>
                  <a:srgbClr val="FF66C4"/>
                </a:solidFill>
                <a:latin typeface="Norwester"/>
                <a:ea typeface="Norwester"/>
                <a:cs typeface="Norwester"/>
                <a:sym typeface="Norwester"/>
              </a:rPr>
              <a:t>Automates background removal → saves time in editing workflows.</a:t>
            </a:r>
          </a:p>
          <a:p>
            <a:pPr algn="l" marL="690881" indent="-345440" lvl="1">
              <a:lnSpc>
                <a:spcPts val="4224"/>
              </a:lnSpc>
              <a:buFont typeface="Arial"/>
              <a:buChar char="•"/>
            </a:pPr>
            <a:r>
              <a:rPr lang="en-US" sz="3200" spc="-156">
                <a:solidFill>
                  <a:srgbClr val="FF66C4"/>
                </a:solidFill>
                <a:latin typeface="Norwester"/>
                <a:ea typeface="Norwester"/>
                <a:cs typeface="Norwester"/>
                <a:sym typeface="Norwester"/>
              </a:rPr>
              <a:t>Enables real-time subject extraction in conferencing and virtual reality</a:t>
            </a:r>
            <a:r>
              <a:rPr lang="en-US" sz="3200" spc="-156">
                <a:solidFill>
                  <a:srgbClr val="38B6FF"/>
                </a:solidFill>
                <a:latin typeface="Norwester"/>
                <a:ea typeface="Norwester"/>
                <a:cs typeface="Norwester"/>
                <a:sym typeface="Norwester"/>
              </a:rPr>
              <a:t>.</a:t>
            </a:r>
          </a:p>
          <a:p>
            <a:pPr algn="l">
              <a:lnSpc>
                <a:spcPts val="4224"/>
              </a:lnSpc>
              <a:spcBef>
                <a:spcPct val="0"/>
              </a:spcBef>
            </a:pPr>
          </a:p>
        </p:txBody>
      </p:sp>
      <p:sp>
        <p:nvSpPr>
          <p:cNvPr name="TextBox 8" id="8"/>
          <p:cNvSpPr txBox="true"/>
          <p:nvPr/>
        </p:nvSpPr>
        <p:spPr>
          <a:xfrm rot="0">
            <a:off x="481562" y="7086012"/>
            <a:ext cx="14558962" cy="2656332"/>
          </a:xfrm>
          <a:prstGeom prst="rect">
            <a:avLst/>
          </a:prstGeom>
        </p:spPr>
        <p:txBody>
          <a:bodyPr anchor="t" rtlCol="false" tIns="0" lIns="0" bIns="0" rIns="0">
            <a:spAutoFit/>
          </a:bodyPr>
          <a:lstStyle/>
          <a:p>
            <a:pPr algn="l" marL="690881" indent="-345440" lvl="1">
              <a:lnSpc>
                <a:spcPts val="4224"/>
              </a:lnSpc>
              <a:buFont typeface="Arial"/>
              <a:buChar char="•"/>
            </a:pPr>
            <a:r>
              <a:rPr lang="en-US" sz="3200" spc="-156">
                <a:solidFill>
                  <a:srgbClr val="FF66C4"/>
                </a:solidFill>
                <a:latin typeface="Norwester"/>
                <a:ea typeface="Norwester"/>
                <a:cs typeface="Norwester"/>
                <a:sym typeface="Norwester"/>
              </a:rPr>
              <a:t>REQUIRES LARGE, HIGH-QUALITY DATASETS FOR TRAINING.</a:t>
            </a:r>
          </a:p>
          <a:p>
            <a:pPr algn="l" marL="690881" indent="-345440" lvl="1">
              <a:lnSpc>
                <a:spcPts val="4224"/>
              </a:lnSpc>
              <a:buFont typeface="Arial"/>
              <a:buChar char="•"/>
            </a:pPr>
            <a:r>
              <a:rPr lang="en-US" sz="3200" spc="-156">
                <a:solidFill>
                  <a:srgbClr val="FF66C4"/>
                </a:solidFill>
                <a:latin typeface="Norwester"/>
                <a:ea typeface="Norwester"/>
                <a:cs typeface="Norwester"/>
                <a:sym typeface="Norwester"/>
              </a:rPr>
              <a:t>Computationally expensive and resource-heavy for real-time use.</a:t>
            </a:r>
          </a:p>
          <a:p>
            <a:pPr algn="l" marL="690881" indent="-345440" lvl="1">
              <a:lnSpc>
                <a:spcPts val="4224"/>
              </a:lnSpc>
              <a:buFont typeface="Arial"/>
              <a:buChar char="•"/>
            </a:pPr>
            <a:r>
              <a:rPr lang="en-US" sz="3200" spc="-156">
                <a:solidFill>
                  <a:srgbClr val="FF66C4"/>
                </a:solidFill>
                <a:latin typeface="Norwester"/>
                <a:ea typeface="Norwester"/>
                <a:cs typeface="Norwester"/>
                <a:sym typeface="Norwester"/>
              </a:rPr>
              <a:t>Performance can degrade under complex lighting, occlusion, or noise.</a:t>
            </a:r>
          </a:p>
          <a:p>
            <a:pPr algn="l" marL="690881" indent="-345440" lvl="1">
              <a:lnSpc>
                <a:spcPts val="4224"/>
              </a:lnSpc>
              <a:buFont typeface="Arial"/>
              <a:buChar char="•"/>
            </a:pPr>
            <a:r>
              <a:rPr lang="en-US" sz="3200" spc="-156">
                <a:solidFill>
                  <a:srgbClr val="FF66C4"/>
                </a:solidFill>
                <a:latin typeface="Norwester"/>
                <a:ea typeface="Norwester"/>
                <a:cs typeface="Norwester"/>
                <a:sym typeface="Norwester"/>
              </a:rPr>
              <a:t>Generalization is challenging → model may not work equally well on unseen domains</a:t>
            </a:r>
            <a:r>
              <a:rPr lang="en-US" sz="3200" spc="-156">
                <a:solidFill>
                  <a:srgbClr val="FFFFFF"/>
                </a:solidFill>
                <a:latin typeface="Norwester"/>
                <a:ea typeface="Norwester"/>
                <a:cs typeface="Norwester"/>
                <a:sym typeface="Norwester"/>
              </a:rPr>
              <a:t>.</a:t>
            </a:r>
          </a:p>
          <a:p>
            <a:pPr algn="l">
              <a:lnSpc>
                <a:spcPts val="4224"/>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sp>
        <p:nvSpPr>
          <p:cNvPr name="Freeform 3" id="3"/>
          <p:cNvSpPr/>
          <p:nvPr/>
        </p:nvSpPr>
        <p:spPr>
          <a:xfrm flipH="false" flipV="true" rot="0">
            <a:off x="14748900" y="9644537"/>
            <a:ext cx="3247475" cy="472360"/>
          </a:xfrm>
          <a:custGeom>
            <a:avLst/>
            <a:gdLst/>
            <a:ahLst/>
            <a:cxnLst/>
            <a:rect r="r" b="b" t="t" l="l"/>
            <a:pathLst>
              <a:path h="472360" w="3247475">
                <a:moveTo>
                  <a:pt x="0" y="472360"/>
                </a:moveTo>
                <a:lnTo>
                  <a:pt x="3247475" y="472360"/>
                </a:lnTo>
                <a:lnTo>
                  <a:pt x="3247475" y="0"/>
                </a:lnTo>
                <a:lnTo>
                  <a:pt x="0" y="0"/>
                </a:lnTo>
                <a:lnTo>
                  <a:pt x="0" y="47236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404628" y="387516"/>
            <a:ext cx="2261028" cy="1282367"/>
          </a:xfrm>
          <a:custGeom>
            <a:avLst/>
            <a:gdLst/>
            <a:ahLst/>
            <a:cxnLst/>
            <a:rect r="r" b="b" t="t" l="l"/>
            <a:pathLst>
              <a:path h="1282367" w="2261028">
                <a:moveTo>
                  <a:pt x="0" y="0"/>
                </a:moveTo>
                <a:lnTo>
                  <a:pt x="2261028" y="0"/>
                </a:lnTo>
                <a:lnTo>
                  <a:pt x="2261028" y="1282368"/>
                </a:lnTo>
                <a:lnTo>
                  <a:pt x="0" y="1282368"/>
                </a:lnTo>
                <a:lnTo>
                  <a:pt x="0" y="0"/>
                </a:lnTo>
                <a:close/>
              </a:path>
            </a:pathLst>
          </a:custGeom>
          <a:blipFill>
            <a:blip r:embed="rId5"/>
            <a:stretch>
              <a:fillRect l="0" t="-5507" r="0" b="-5507"/>
            </a:stretch>
          </a:blipFill>
        </p:spPr>
      </p:sp>
      <p:sp>
        <p:nvSpPr>
          <p:cNvPr name="TextBox 5" id="5"/>
          <p:cNvSpPr txBox="true"/>
          <p:nvPr/>
        </p:nvSpPr>
        <p:spPr>
          <a:xfrm rot="-5400000">
            <a:off x="-1494168" y="3909072"/>
            <a:ext cx="7481862" cy="3989070"/>
          </a:xfrm>
          <a:prstGeom prst="rect">
            <a:avLst/>
          </a:prstGeom>
        </p:spPr>
        <p:txBody>
          <a:bodyPr anchor="t" rtlCol="false" tIns="0" lIns="0" bIns="0" rIns="0">
            <a:spAutoFit/>
          </a:bodyPr>
          <a:lstStyle/>
          <a:p>
            <a:pPr algn="l">
              <a:lnSpc>
                <a:spcPts val="15840"/>
              </a:lnSpc>
            </a:pPr>
            <a:r>
              <a:rPr lang="en-US" sz="12000" spc="-588">
                <a:solidFill>
                  <a:srgbClr val="38B6FF"/>
                </a:solidFill>
                <a:latin typeface="Norwester"/>
                <a:ea typeface="Norwester"/>
                <a:cs typeface="Norwester"/>
                <a:sym typeface="Norwester"/>
              </a:rPr>
              <a:t>FUTURE PROSPECTS</a:t>
            </a:r>
          </a:p>
        </p:txBody>
      </p:sp>
      <p:sp>
        <p:nvSpPr>
          <p:cNvPr name="TextBox 6" id="6"/>
          <p:cNvSpPr txBox="true"/>
          <p:nvPr/>
        </p:nvSpPr>
        <p:spPr>
          <a:xfrm rot="0">
            <a:off x="4241298" y="586989"/>
            <a:ext cx="13668970" cy="8417814"/>
          </a:xfrm>
          <a:prstGeom prst="rect">
            <a:avLst/>
          </a:prstGeom>
        </p:spPr>
        <p:txBody>
          <a:bodyPr anchor="t" rtlCol="false" tIns="0" lIns="0" bIns="0" rIns="0">
            <a:spAutoFit/>
          </a:bodyPr>
          <a:lstStyle/>
          <a:p>
            <a:pPr algn="l" marL="842007" indent="-421003" lvl="1">
              <a:lnSpc>
                <a:spcPts val="5147"/>
              </a:lnSpc>
              <a:buFont typeface="Arial"/>
              <a:buChar char="•"/>
            </a:pPr>
            <a:r>
              <a:rPr lang="en-US" sz="3899" spc="-191">
                <a:solidFill>
                  <a:srgbClr val="FF66C4"/>
                </a:solidFill>
                <a:latin typeface="Norwester"/>
                <a:ea typeface="Norwester"/>
                <a:cs typeface="Norwester"/>
                <a:sym typeface="Norwester"/>
              </a:rPr>
              <a:t>INTEGRATION WITH EDGE DEVICES FOR REAL-TIME AR/VR APPLICATIONS.</a:t>
            </a:r>
          </a:p>
          <a:p>
            <a:pPr algn="l" marL="842007" indent="-421003" lvl="1">
              <a:lnSpc>
                <a:spcPts val="5147"/>
              </a:lnSpc>
              <a:buFont typeface="Arial"/>
              <a:buChar char="•"/>
            </a:pPr>
            <a:r>
              <a:rPr lang="en-US" sz="3899" spc="-191">
                <a:solidFill>
                  <a:srgbClr val="FF66C4"/>
                </a:solidFill>
                <a:latin typeface="Norwester"/>
                <a:ea typeface="Norwester"/>
                <a:cs typeface="Norwester"/>
                <a:sym typeface="Norwester"/>
              </a:rPr>
              <a:t>GENERATIVE AI + SEGMENTATION FOR INTELLIGENT BACKGROUND REPLACEMENT.</a:t>
            </a:r>
          </a:p>
          <a:p>
            <a:pPr algn="l" marL="842007" indent="-421003" lvl="1">
              <a:lnSpc>
                <a:spcPts val="5147"/>
              </a:lnSpc>
              <a:buFont typeface="Arial"/>
              <a:buChar char="•"/>
            </a:pPr>
            <a:r>
              <a:rPr lang="en-US" sz="3899" spc="-191">
                <a:solidFill>
                  <a:srgbClr val="FF66C4"/>
                </a:solidFill>
                <a:latin typeface="Norwester"/>
                <a:ea typeface="Norwester"/>
                <a:cs typeface="Norwester"/>
                <a:sym typeface="Norwester"/>
              </a:rPr>
              <a:t>DEVELOPMENT OF LIGHTWEIGHT, OPTIMIZED MODELS FOR MOBILE AND IOT.</a:t>
            </a:r>
          </a:p>
          <a:p>
            <a:pPr algn="l" marL="842007" indent="-421003" lvl="1">
              <a:lnSpc>
                <a:spcPts val="5147"/>
              </a:lnSpc>
              <a:buFont typeface="Arial"/>
              <a:buChar char="•"/>
            </a:pPr>
            <a:r>
              <a:rPr lang="en-US" sz="3899" spc="-191">
                <a:solidFill>
                  <a:srgbClr val="FF66C4"/>
                </a:solidFill>
                <a:latin typeface="Norwester"/>
                <a:ea typeface="Norwester"/>
                <a:cs typeface="Norwester"/>
                <a:sym typeface="Norwester"/>
              </a:rPr>
              <a:t>IMPROVED ACCURACY THROUGH SELF-SUPERVISED &amp; FEW-SHOT LEARNING.</a:t>
            </a:r>
          </a:p>
          <a:p>
            <a:pPr algn="l" marL="842007" indent="-421003" lvl="1">
              <a:lnSpc>
                <a:spcPts val="5147"/>
              </a:lnSpc>
              <a:buFont typeface="Arial"/>
              <a:buChar char="•"/>
            </a:pPr>
            <a:r>
              <a:rPr lang="en-US" sz="3899" spc="-191">
                <a:solidFill>
                  <a:srgbClr val="FF66C4"/>
                </a:solidFill>
                <a:latin typeface="Norwester"/>
                <a:ea typeface="Norwester"/>
                <a:cs typeface="Norwester"/>
                <a:sym typeface="Norwester"/>
              </a:rPr>
              <a:t>CROSS-DOMAIN GENERALIZATION TO HANDLE DIVERSE IMAGE TYPES AND ENVIRONMENTS.</a:t>
            </a:r>
          </a:p>
          <a:p>
            <a:pPr algn="l" marL="842007" indent="-421003" lvl="1">
              <a:lnSpc>
                <a:spcPts val="5147"/>
              </a:lnSpc>
              <a:buFont typeface="Arial"/>
              <a:buChar char="•"/>
            </a:pPr>
            <a:r>
              <a:rPr lang="en-US" sz="3899" spc="-191">
                <a:solidFill>
                  <a:srgbClr val="FF66C4"/>
                </a:solidFill>
                <a:latin typeface="Norwester"/>
                <a:ea typeface="Norwester"/>
                <a:cs typeface="Norwester"/>
                <a:sym typeface="Norwester"/>
              </a:rPr>
              <a:t>REAL-TIME DEPLOYMENT IN VIDEO CONFERENCING, GAMING, AND VIRTUAL TRY-ON APPS.</a:t>
            </a:r>
          </a:p>
          <a:p>
            <a:pPr algn="l" marL="842007" indent="-421003" lvl="1">
              <a:lnSpc>
                <a:spcPts val="5147"/>
              </a:lnSpc>
              <a:buFont typeface="Arial"/>
              <a:buChar char="•"/>
            </a:pPr>
            <a:r>
              <a:rPr lang="en-US" sz="3899" spc="-191">
                <a:solidFill>
                  <a:srgbClr val="FF66C4"/>
                </a:solidFill>
                <a:latin typeface="Norwester"/>
                <a:ea typeface="Norwester"/>
                <a:cs typeface="Norwester"/>
                <a:sym typeface="Norwester"/>
              </a:rPr>
              <a:t>HYBRID MODELS COMBINING SEGMENTATION WITH OBJECT DETECTION FOR RICHER RESULTS.</a:t>
            </a:r>
          </a:p>
          <a:p>
            <a:pPr algn="l" marL="842007" indent="-421003" lvl="1">
              <a:lnSpc>
                <a:spcPts val="5147"/>
              </a:lnSpc>
              <a:buFont typeface="Arial"/>
              <a:buChar char="•"/>
            </a:pPr>
            <a:r>
              <a:rPr lang="en-US" sz="3899" spc="-191">
                <a:solidFill>
                  <a:srgbClr val="FF66C4"/>
                </a:solidFill>
                <a:latin typeface="Norwester"/>
                <a:ea typeface="Norwester"/>
                <a:cs typeface="Norwester"/>
                <a:sym typeface="Norwester"/>
              </a:rPr>
              <a:t>INTEGRATION WITH CLOUD + EDGE AI PIPELINES FOR SCALABLE GLOBAL DEPLOYMENT.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sp>
        <p:nvSpPr>
          <p:cNvPr name="Freeform 3" id="3"/>
          <p:cNvSpPr/>
          <p:nvPr/>
        </p:nvSpPr>
        <p:spPr>
          <a:xfrm flipH="false" flipV="false" rot="0">
            <a:off x="404628" y="387516"/>
            <a:ext cx="2261028" cy="1282367"/>
          </a:xfrm>
          <a:custGeom>
            <a:avLst/>
            <a:gdLst/>
            <a:ahLst/>
            <a:cxnLst/>
            <a:rect r="r" b="b" t="t" l="l"/>
            <a:pathLst>
              <a:path h="1282367" w="2261028">
                <a:moveTo>
                  <a:pt x="0" y="0"/>
                </a:moveTo>
                <a:lnTo>
                  <a:pt x="2261028" y="0"/>
                </a:lnTo>
                <a:lnTo>
                  <a:pt x="2261028" y="1282368"/>
                </a:lnTo>
                <a:lnTo>
                  <a:pt x="0" y="1282368"/>
                </a:lnTo>
                <a:lnTo>
                  <a:pt x="0" y="0"/>
                </a:lnTo>
                <a:close/>
              </a:path>
            </a:pathLst>
          </a:custGeom>
          <a:blipFill>
            <a:blip r:embed="rId3"/>
            <a:stretch>
              <a:fillRect l="0" t="-5507" r="0" b="-5507"/>
            </a:stretch>
          </a:blipFill>
        </p:spPr>
      </p:sp>
      <p:pic>
        <p:nvPicPr>
          <p:cNvPr name="Picture 4" id="4">
            <a:hlinkClick action="ppaction://media"/>
          </p:cNvPr>
          <p:cNvPicPr>
            <a:picLocks noChangeAspect="true"/>
          </p:cNvPicPr>
          <p:nvPr>
            <a:videoFile r:link="rId5"/>
            <p:extLst>
              <p:ext uri="{DAA4B4D4-6D71-4841-9C94-3DE7FCFB9230}">
                <p14:media xmlns:p14="http://schemas.microsoft.com/office/powerpoint/2010/main" r:embed="rId6"/>
              </p:ext>
            </p:extLst>
          </p:nvPr>
        </p:nvPicPr>
        <p:blipFill>
          <a:blip r:embed="rId4"/>
          <a:srcRect l="1264" t="5006" r="1264" b="2889"/>
          <a:stretch>
            <a:fillRect/>
          </a:stretch>
        </p:blipFill>
        <p:spPr>
          <a:xfrm flipH="false" flipV="false" rot="0">
            <a:off x="1731592" y="1669884"/>
            <a:ext cx="15527708" cy="8253306"/>
          </a:xfrm>
          <a:prstGeom prst="rect">
            <a:avLst/>
          </a:prstGeom>
        </p:spPr>
      </p:pic>
    </p:spTree>
  </p:cSld>
  <p:clrMapOvr>
    <a:masterClrMapping/>
  </p:clrMapOvr>
  <p:timing>
    <p:tnLst>
      <p:par>
        <p:cTn dur="indefinite" restart="never" nodeType="tmRoot">
          <p:childTnLst>
            <p:video>
              <p:cMediaNode vol="100000">
                <p:cTn fill="hold" display="false">
                  <p:stCondLst>
                    <p:cond delay="indefinite"/>
                  </p:stCondLst>
                </p:cTn>
                <p:tgtEl>
                  <p:spTgt spid="4"/>
                </p:tgtEl>
              </p:cMediaNode>
            </p:video>
          </p:childTnLst>
        </p:cTn>
      </p:par>
    </p:tnLst>
  </p:timing>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sp>
        <p:nvSpPr>
          <p:cNvPr name="Freeform 3" id="3"/>
          <p:cNvSpPr/>
          <p:nvPr/>
        </p:nvSpPr>
        <p:spPr>
          <a:xfrm flipH="false" flipV="true" rot="0">
            <a:off x="14748900" y="9644537"/>
            <a:ext cx="3247475" cy="472360"/>
          </a:xfrm>
          <a:custGeom>
            <a:avLst/>
            <a:gdLst/>
            <a:ahLst/>
            <a:cxnLst/>
            <a:rect r="r" b="b" t="t" l="l"/>
            <a:pathLst>
              <a:path h="472360" w="3247475">
                <a:moveTo>
                  <a:pt x="0" y="472360"/>
                </a:moveTo>
                <a:lnTo>
                  <a:pt x="3247475" y="472360"/>
                </a:lnTo>
                <a:lnTo>
                  <a:pt x="3247475" y="0"/>
                </a:lnTo>
                <a:lnTo>
                  <a:pt x="0" y="0"/>
                </a:lnTo>
                <a:lnTo>
                  <a:pt x="0" y="47236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404628" y="387516"/>
            <a:ext cx="2261028" cy="1282367"/>
          </a:xfrm>
          <a:custGeom>
            <a:avLst/>
            <a:gdLst/>
            <a:ahLst/>
            <a:cxnLst/>
            <a:rect r="r" b="b" t="t" l="l"/>
            <a:pathLst>
              <a:path h="1282367" w="2261028">
                <a:moveTo>
                  <a:pt x="0" y="0"/>
                </a:moveTo>
                <a:lnTo>
                  <a:pt x="2261028" y="0"/>
                </a:lnTo>
                <a:lnTo>
                  <a:pt x="2261028" y="1282368"/>
                </a:lnTo>
                <a:lnTo>
                  <a:pt x="0" y="1282368"/>
                </a:lnTo>
                <a:lnTo>
                  <a:pt x="0" y="0"/>
                </a:lnTo>
                <a:close/>
              </a:path>
            </a:pathLst>
          </a:custGeom>
          <a:blipFill>
            <a:blip r:embed="rId5"/>
            <a:stretch>
              <a:fillRect l="0" t="-5507" r="0" b="-5507"/>
            </a:stretch>
          </a:blipFill>
        </p:spPr>
      </p:sp>
      <p:sp>
        <p:nvSpPr>
          <p:cNvPr name="TextBox 5" id="5"/>
          <p:cNvSpPr txBox="true"/>
          <p:nvPr/>
        </p:nvSpPr>
        <p:spPr>
          <a:xfrm rot="-5400000">
            <a:off x="-2499055" y="3779983"/>
            <a:ext cx="7481862" cy="1979295"/>
          </a:xfrm>
          <a:prstGeom prst="rect">
            <a:avLst/>
          </a:prstGeom>
        </p:spPr>
        <p:txBody>
          <a:bodyPr anchor="t" rtlCol="false" tIns="0" lIns="0" bIns="0" rIns="0">
            <a:spAutoFit/>
          </a:bodyPr>
          <a:lstStyle/>
          <a:p>
            <a:pPr algn="l">
              <a:lnSpc>
                <a:spcPts val="15840"/>
              </a:lnSpc>
            </a:pPr>
            <a:r>
              <a:rPr lang="en-US" sz="12000" spc="-588">
                <a:solidFill>
                  <a:srgbClr val="FF66C4"/>
                </a:solidFill>
                <a:latin typeface="Norwester"/>
                <a:ea typeface="Norwester"/>
                <a:cs typeface="Norwester"/>
                <a:sym typeface="Norwester"/>
              </a:rPr>
              <a:t>CONCLUSION</a:t>
            </a:r>
          </a:p>
        </p:txBody>
      </p:sp>
      <p:sp>
        <p:nvSpPr>
          <p:cNvPr name="TextBox 6" id="6"/>
          <p:cNvSpPr txBox="true"/>
          <p:nvPr/>
        </p:nvSpPr>
        <p:spPr>
          <a:xfrm rot="0">
            <a:off x="2664488" y="2607945"/>
            <a:ext cx="14594812" cy="5013960"/>
          </a:xfrm>
          <a:prstGeom prst="rect">
            <a:avLst/>
          </a:prstGeom>
        </p:spPr>
        <p:txBody>
          <a:bodyPr anchor="t" rtlCol="false" tIns="0" lIns="0" bIns="0" rIns="0">
            <a:spAutoFit/>
          </a:bodyPr>
          <a:lstStyle/>
          <a:p>
            <a:pPr algn="just" marL="820417" indent="-410209" lvl="1">
              <a:lnSpc>
                <a:spcPts val="5015"/>
              </a:lnSpc>
              <a:buFont typeface="Arial"/>
              <a:buChar char="•"/>
            </a:pPr>
            <a:r>
              <a:rPr lang="en-US" sz="3799" spc="-186">
                <a:solidFill>
                  <a:srgbClr val="0CC0DF"/>
                </a:solidFill>
                <a:latin typeface="Norwester"/>
                <a:ea typeface="Norwester"/>
                <a:cs typeface="Norwester"/>
                <a:sym typeface="Norwester"/>
              </a:rPr>
              <a:t>SUCCESSFULLY IMPLEMENTED IMAGE SEGMENTATION FOR SUBJECT ISOLATION.</a:t>
            </a:r>
          </a:p>
          <a:p>
            <a:pPr algn="just" marL="820417" indent="-410209" lvl="1">
              <a:lnSpc>
                <a:spcPts val="5015"/>
              </a:lnSpc>
              <a:buFont typeface="Arial"/>
              <a:buChar char="•"/>
            </a:pPr>
            <a:r>
              <a:rPr lang="en-US" sz="3799" spc="-186">
                <a:solidFill>
                  <a:srgbClr val="0CC0DF"/>
                </a:solidFill>
                <a:latin typeface="Norwester"/>
                <a:ea typeface="Norwester"/>
                <a:cs typeface="Norwester"/>
                <a:sym typeface="Norwester"/>
              </a:rPr>
              <a:t>Demonstrated the power of deep learning in pixel-level accuracy.</a:t>
            </a:r>
          </a:p>
          <a:p>
            <a:pPr algn="just" marL="820417" indent="-410209" lvl="1">
              <a:lnSpc>
                <a:spcPts val="5015"/>
              </a:lnSpc>
              <a:buFont typeface="Arial"/>
              <a:buChar char="•"/>
            </a:pPr>
            <a:r>
              <a:rPr lang="en-US" sz="3799" spc="-186">
                <a:solidFill>
                  <a:srgbClr val="0CC0DF"/>
                </a:solidFill>
                <a:latin typeface="Norwester"/>
                <a:ea typeface="Norwester"/>
                <a:cs typeface="Norwester"/>
                <a:sym typeface="Norwester"/>
              </a:rPr>
              <a:t>Automated workflow reduces manual effort and saves time.</a:t>
            </a:r>
          </a:p>
          <a:p>
            <a:pPr algn="just" marL="820417" indent="-410209" lvl="1">
              <a:lnSpc>
                <a:spcPts val="5015"/>
              </a:lnSpc>
              <a:buFont typeface="Arial"/>
              <a:buChar char="•"/>
            </a:pPr>
            <a:r>
              <a:rPr lang="en-US" sz="3799" spc="-186">
                <a:solidFill>
                  <a:srgbClr val="0CC0DF"/>
                </a:solidFill>
                <a:latin typeface="Norwester"/>
                <a:ea typeface="Norwester"/>
                <a:cs typeface="Norwester"/>
                <a:sym typeface="Norwester"/>
              </a:rPr>
              <a:t>Achieved strong results using IoU, Dice, and accuracy metrics.</a:t>
            </a:r>
          </a:p>
          <a:p>
            <a:pPr algn="just" marL="820417" indent="-410209" lvl="1">
              <a:lnSpc>
                <a:spcPts val="5015"/>
              </a:lnSpc>
              <a:buFont typeface="Arial"/>
              <a:buChar char="•"/>
            </a:pPr>
            <a:r>
              <a:rPr lang="en-US" sz="3799" spc="-186">
                <a:solidFill>
                  <a:srgbClr val="0CC0DF"/>
                </a:solidFill>
                <a:latin typeface="Norwester"/>
                <a:ea typeface="Norwester"/>
                <a:cs typeface="Norwester"/>
                <a:sym typeface="Norwester"/>
              </a:rPr>
              <a:t>Solution shows potential for real-time and industry applications.</a:t>
            </a:r>
          </a:p>
          <a:p>
            <a:pPr algn="just" marL="863596" indent="-431798" lvl="1">
              <a:lnSpc>
                <a:spcPts val="5279"/>
              </a:lnSpc>
              <a:buFont typeface="Arial"/>
              <a:buChar char="•"/>
            </a:pPr>
            <a:r>
              <a:rPr lang="en-US" sz="3999" spc="-195">
                <a:solidFill>
                  <a:srgbClr val="0CC0DF"/>
                </a:solidFill>
                <a:latin typeface="Norwester"/>
                <a:ea typeface="Norwester"/>
                <a:cs typeface="Norwester"/>
                <a:sym typeface="Norwester"/>
              </a:rPr>
              <a:t>Future improvements can make the system more efficient and scalable.</a:t>
            </a:r>
          </a:p>
          <a:p>
            <a:pPr algn="ctr">
              <a:lnSpc>
                <a:spcPts val="4224"/>
              </a:lnSpc>
              <a:spcBef>
                <a:spcPct val="0"/>
              </a:spcBef>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sp>
        <p:nvSpPr>
          <p:cNvPr name="Freeform 3" id="3"/>
          <p:cNvSpPr/>
          <p:nvPr/>
        </p:nvSpPr>
        <p:spPr>
          <a:xfrm flipH="false" flipV="false" rot="-5400000">
            <a:off x="-358858" y="4907320"/>
            <a:ext cx="3247475" cy="472360"/>
          </a:xfrm>
          <a:custGeom>
            <a:avLst/>
            <a:gdLst/>
            <a:ahLst/>
            <a:cxnLst/>
            <a:rect r="r" b="b" t="t" l="l"/>
            <a:pathLst>
              <a:path h="472360" w="3247475">
                <a:moveTo>
                  <a:pt x="0" y="0"/>
                </a:moveTo>
                <a:lnTo>
                  <a:pt x="3247476" y="0"/>
                </a:lnTo>
                <a:lnTo>
                  <a:pt x="3247476" y="472360"/>
                </a:lnTo>
                <a:lnTo>
                  <a:pt x="0" y="4723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5400000">
            <a:off x="15399382" y="4907320"/>
            <a:ext cx="3247475" cy="472360"/>
          </a:xfrm>
          <a:custGeom>
            <a:avLst/>
            <a:gdLst/>
            <a:ahLst/>
            <a:cxnLst/>
            <a:rect r="r" b="b" t="t" l="l"/>
            <a:pathLst>
              <a:path h="472360" w="3247475">
                <a:moveTo>
                  <a:pt x="0" y="472360"/>
                </a:moveTo>
                <a:lnTo>
                  <a:pt x="3247476" y="472360"/>
                </a:lnTo>
                <a:lnTo>
                  <a:pt x="3247476" y="0"/>
                </a:lnTo>
                <a:lnTo>
                  <a:pt x="0" y="0"/>
                </a:lnTo>
                <a:lnTo>
                  <a:pt x="0" y="47236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10800000">
            <a:off x="15921917" y="8100856"/>
            <a:ext cx="1337383" cy="1157444"/>
          </a:xfrm>
          <a:custGeom>
            <a:avLst/>
            <a:gdLst/>
            <a:ahLst/>
            <a:cxnLst/>
            <a:rect r="r" b="b" t="t" l="l"/>
            <a:pathLst>
              <a:path h="1157444" w="1337383">
                <a:moveTo>
                  <a:pt x="0" y="0"/>
                </a:moveTo>
                <a:lnTo>
                  <a:pt x="1337383" y="0"/>
                </a:lnTo>
                <a:lnTo>
                  <a:pt x="1337383" y="1157444"/>
                </a:lnTo>
                <a:lnTo>
                  <a:pt x="0" y="11574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10800000">
            <a:off x="1028700" y="8081538"/>
            <a:ext cx="1337383" cy="1157444"/>
          </a:xfrm>
          <a:custGeom>
            <a:avLst/>
            <a:gdLst/>
            <a:ahLst/>
            <a:cxnLst/>
            <a:rect r="r" b="b" t="t" l="l"/>
            <a:pathLst>
              <a:path h="1157444" w="1337383">
                <a:moveTo>
                  <a:pt x="1337383" y="0"/>
                </a:moveTo>
                <a:lnTo>
                  <a:pt x="0" y="0"/>
                </a:lnTo>
                <a:lnTo>
                  <a:pt x="0" y="1157444"/>
                </a:lnTo>
                <a:lnTo>
                  <a:pt x="1337383" y="1157444"/>
                </a:lnTo>
                <a:lnTo>
                  <a:pt x="1337383"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10800000">
            <a:off x="16996033" y="1028700"/>
            <a:ext cx="263267" cy="204391"/>
          </a:xfrm>
          <a:custGeom>
            <a:avLst/>
            <a:gdLst/>
            <a:ahLst/>
            <a:cxnLst/>
            <a:rect r="r" b="b" t="t" l="l"/>
            <a:pathLst>
              <a:path h="204391" w="263267">
                <a:moveTo>
                  <a:pt x="0" y="0"/>
                </a:moveTo>
                <a:lnTo>
                  <a:pt x="263267" y="0"/>
                </a:lnTo>
                <a:lnTo>
                  <a:pt x="263267" y="204391"/>
                </a:lnTo>
                <a:lnTo>
                  <a:pt x="0" y="20439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true" flipV="false" rot="-10800000">
            <a:off x="1028700" y="1028700"/>
            <a:ext cx="263267" cy="204391"/>
          </a:xfrm>
          <a:custGeom>
            <a:avLst/>
            <a:gdLst/>
            <a:ahLst/>
            <a:cxnLst/>
            <a:rect r="r" b="b" t="t" l="l"/>
            <a:pathLst>
              <a:path h="204391" w="263267">
                <a:moveTo>
                  <a:pt x="263267" y="0"/>
                </a:moveTo>
                <a:lnTo>
                  <a:pt x="0" y="0"/>
                </a:lnTo>
                <a:lnTo>
                  <a:pt x="0" y="204391"/>
                </a:lnTo>
                <a:lnTo>
                  <a:pt x="263267" y="204391"/>
                </a:lnTo>
                <a:lnTo>
                  <a:pt x="263267"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2835963" y="3409512"/>
            <a:ext cx="12616074" cy="3738966"/>
          </a:xfrm>
          <a:prstGeom prst="rect">
            <a:avLst/>
          </a:prstGeom>
        </p:spPr>
        <p:txBody>
          <a:bodyPr anchor="t" rtlCol="false" tIns="0" lIns="0" bIns="0" rIns="0">
            <a:spAutoFit/>
          </a:bodyPr>
          <a:lstStyle/>
          <a:p>
            <a:pPr algn="ctr">
              <a:lnSpc>
                <a:spcPts val="30077"/>
              </a:lnSpc>
            </a:pPr>
            <a:r>
              <a:rPr lang="en-US" sz="22786" spc="-1116">
                <a:solidFill>
                  <a:srgbClr val="38B6FF"/>
                </a:solidFill>
                <a:latin typeface="Norwester"/>
                <a:ea typeface="Norwester"/>
                <a:cs typeface="Norwester"/>
                <a:sym typeface="Norwester"/>
              </a:rPr>
              <a:t>THANK YOU</a:t>
            </a:r>
          </a:p>
        </p:txBody>
      </p:sp>
      <p:sp>
        <p:nvSpPr>
          <p:cNvPr name="Freeform 10" id="10"/>
          <p:cNvSpPr/>
          <p:nvPr/>
        </p:nvSpPr>
        <p:spPr>
          <a:xfrm flipH="false" flipV="false" rot="0">
            <a:off x="404628" y="387516"/>
            <a:ext cx="2261028" cy="1282367"/>
          </a:xfrm>
          <a:custGeom>
            <a:avLst/>
            <a:gdLst/>
            <a:ahLst/>
            <a:cxnLst/>
            <a:rect r="r" b="b" t="t" l="l"/>
            <a:pathLst>
              <a:path h="1282367" w="2261028">
                <a:moveTo>
                  <a:pt x="0" y="0"/>
                </a:moveTo>
                <a:lnTo>
                  <a:pt x="2261028" y="0"/>
                </a:lnTo>
                <a:lnTo>
                  <a:pt x="2261028" y="1282368"/>
                </a:lnTo>
                <a:lnTo>
                  <a:pt x="0" y="1282368"/>
                </a:lnTo>
                <a:lnTo>
                  <a:pt x="0" y="0"/>
                </a:lnTo>
                <a:close/>
              </a:path>
            </a:pathLst>
          </a:custGeom>
          <a:blipFill>
            <a:blip r:embed="rId9"/>
            <a:stretch>
              <a:fillRect l="0" t="-5507" r="0" b="-5507"/>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DAG062Lby0A</dc:identifier>
  <dcterms:modified xsi:type="dcterms:W3CDTF">2011-08-01T06:04:30Z</dcterms:modified>
  <cp:revision>1</cp:revision>
  <dc:title>Blue and Black Modern Technology Presentation</dc:title>
</cp:coreProperties>
</file>